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0273" autoAdjust="0"/>
  </p:normalViewPr>
  <p:slideViewPr>
    <p:cSldViewPr snapToGrid="0" snapToObjects="1">
      <p:cViewPr varScale="1">
        <p:scale>
          <a:sx n="102" d="100"/>
          <a:sy n="102" d="100"/>
        </p:scale>
        <p:origin x="12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85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err="1"/>
              <a:t>Salutul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Bună</a:t>
            </a:r>
            <a:r>
              <a:rPr lang="en-GB" dirty="0"/>
              <a:t> </a:t>
            </a:r>
            <a:r>
              <a:rPr lang="en-GB" dirty="0" err="1"/>
              <a:t>ziua</a:t>
            </a:r>
            <a:r>
              <a:rPr lang="en-GB" dirty="0"/>
              <a:t>. </a:t>
            </a:r>
            <a:r>
              <a:rPr lang="en-GB" dirty="0" err="1"/>
              <a:t>Mă</a:t>
            </a:r>
            <a:r>
              <a:rPr lang="en-GB" dirty="0"/>
              <a:t> </a:t>
            </a:r>
            <a:r>
              <a:rPr lang="en-GB" dirty="0" err="1"/>
              <a:t>numesc</a:t>
            </a:r>
            <a:r>
              <a:rPr lang="en-GB" dirty="0"/>
              <a:t> </a:t>
            </a:r>
            <a:r>
              <a:rPr lang="en-GB" dirty="0" err="1"/>
              <a:t>Fugulin</a:t>
            </a:r>
            <a:r>
              <a:rPr lang="en-GB" dirty="0"/>
              <a:t> </a:t>
            </a:r>
            <a:r>
              <a:rPr lang="en-GB" dirty="0" err="1"/>
              <a:t>Claudiu</a:t>
            </a:r>
            <a:r>
              <a:rPr lang="en-GB" dirty="0"/>
              <a:t>-Florian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prezint</a:t>
            </a:r>
            <a:r>
              <a:rPr lang="en-GB" dirty="0"/>
              <a:t> </a:t>
            </a:r>
            <a:r>
              <a:rPr lang="en-GB" dirty="0" err="1"/>
              <a:t>lucrarea</a:t>
            </a:r>
            <a:r>
              <a:rPr lang="en-GB" dirty="0"/>
              <a:t> </a:t>
            </a:r>
            <a:r>
              <a:rPr lang="en-GB" dirty="0" err="1"/>
              <a:t>coordonată</a:t>
            </a:r>
            <a:r>
              <a:rPr lang="en-GB" dirty="0"/>
              <a:t> de dl. Conf. </a:t>
            </a:r>
            <a:r>
              <a:rPr lang="en-GB" dirty="0" err="1"/>
              <a:t>Tiberiu</a:t>
            </a:r>
            <a:r>
              <a:rPr lang="en-GB" dirty="0"/>
              <a:t> </a:t>
            </a:r>
            <a:r>
              <a:rPr lang="en-GB" dirty="0" err="1"/>
              <a:t>Cociaș</a:t>
            </a:r>
            <a:r>
              <a:rPr lang="en-GB" dirty="0"/>
              <a:t>.</a:t>
            </a:r>
          </a:p>
          <a:p>
            <a:r>
              <a:rPr lang="en-GB" b="1" dirty="0"/>
              <a:t>Ce </a:t>
            </a:r>
            <a:r>
              <a:rPr lang="en-GB" b="1" dirty="0" err="1"/>
              <a:t>este</a:t>
            </a:r>
            <a:r>
              <a:rPr lang="en-GB" b="1" dirty="0"/>
              <a:t> </a:t>
            </a:r>
            <a:r>
              <a:rPr lang="en-GB" b="1" dirty="0" err="1"/>
              <a:t>proiectul</a:t>
            </a:r>
            <a:r>
              <a:rPr lang="en-GB" b="1" dirty="0"/>
              <a:t>:</a:t>
            </a:r>
            <a:r>
              <a:rPr lang="en-GB" dirty="0"/>
              <a:t> Un </a:t>
            </a:r>
            <a:r>
              <a:rPr lang="en-GB" dirty="0" err="1"/>
              <a:t>sistem</a:t>
            </a:r>
            <a:r>
              <a:rPr lang="en-GB" dirty="0"/>
              <a:t> </a:t>
            </a:r>
            <a:r>
              <a:rPr lang="en-GB" dirty="0" err="1"/>
              <a:t>mecatronic</a:t>
            </a:r>
            <a:r>
              <a:rPr lang="en-GB" dirty="0"/>
              <a:t> automat care </a:t>
            </a:r>
            <a:r>
              <a:rPr lang="en-GB" dirty="0" err="1"/>
              <a:t>acordează</a:t>
            </a:r>
            <a:r>
              <a:rPr lang="en-GB" dirty="0"/>
              <a:t> </a:t>
            </a:r>
            <a:r>
              <a:rPr lang="en-GB" dirty="0" err="1"/>
              <a:t>chitara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buclă</a:t>
            </a:r>
            <a:r>
              <a:rPr lang="en-GB" dirty="0"/>
              <a:t> </a:t>
            </a:r>
            <a:r>
              <a:rPr lang="en-GB" dirty="0" err="1"/>
              <a:t>închisă</a:t>
            </a:r>
            <a:r>
              <a:rPr lang="en-GB" dirty="0"/>
              <a:t>.</a:t>
            </a:r>
          </a:p>
          <a:p>
            <a:r>
              <a:rPr lang="en-GB" b="1" dirty="0"/>
              <a:t>Cum </a:t>
            </a:r>
            <a:r>
              <a:rPr lang="en-GB" b="1" dirty="0" err="1"/>
              <a:t>funcționează</a:t>
            </a:r>
            <a:r>
              <a:rPr lang="en-GB" b="1" dirty="0"/>
              <a:t> pe </a:t>
            </a:r>
            <a:r>
              <a:rPr lang="en-GB" b="1" dirty="0" err="1"/>
              <a:t>scurt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Dispozitivul</a:t>
            </a:r>
            <a:r>
              <a:rPr lang="en-GB" dirty="0"/>
              <a:t> </a:t>
            </a:r>
            <a:r>
              <a:rPr lang="en-GB" dirty="0" err="1"/>
              <a:t>ascultă</a:t>
            </a:r>
            <a:r>
              <a:rPr lang="en-GB" dirty="0"/>
              <a:t> nota, </a:t>
            </a:r>
            <a:r>
              <a:rPr lang="en-GB" dirty="0" err="1"/>
              <a:t>calculează</a:t>
            </a:r>
            <a:r>
              <a:rPr lang="en-GB" dirty="0"/>
              <a:t> </a:t>
            </a:r>
            <a:r>
              <a:rPr lang="en-GB" dirty="0" err="1"/>
              <a:t>eroarea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rotește</a:t>
            </a:r>
            <a:r>
              <a:rPr lang="en-GB" dirty="0"/>
              <a:t> </a:t>
            </a:r>
            <a:r>
              <a:rPr lang="en-GB" dirty="0" err="1"/>
              <a:t>fizic</a:t>
            </a:r>
            <a:r>
              <a:rPr lang="en-GB" dirty="0"/>
              <a:t> </a:t>
            </a:r>
            <a:r>
              <a:rPr lang="en-GB" dirty="0" err="1"/>
              <a:t>cheia</a:t>
            </a:r>
            <a:r>
              <a:rPr lang="en-GB" dirty="0"/>
              <a:t>, </a:t>
            </a:r>
            <a:r>
              <a:rPr lang="en-GB" dirty="0" err="1"/>
              <a:t>eliminând</a:t>
            </a:r>
            <a:r>
              <a:rPr lang="en-GB" dirty="0"/>
              <a:t> </a:t>
            </a:r>
            <a:r>
              <a:rPr lang="en-GB" dirty="0" err="1"/>
              <a:t>complet</a:t>
            </a:r>
            <a:r>
              <a:rPr lang="en-GB" dirty="0"/>
              <a:t> </a:t>
            </a:r>
            <a:r>
              <a:rPr lang="en-GB" dirty="0" err="1"/>
              <a:t>intervenția</a:t>
            </a:r>
            <a:r>
              <a:rPr lang="en-GB" dirty="0"/>
              <a:t> </a:t>
            </a:r>
            <a:r>
              <a:rPr lang="en-GB" dirty="0" err="1"/>
              <a:t>manuală</a:t>
            </a:r>
            <a:r>
              <a:rPr lang="en-GB" dirty="0"/>
              <a:t> a </a:t>
            </a:r>
            <a:r>
              <a:rPr lang="en-GB" dirty="0" err="1"/>
              <a:t>utilizatorului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Cele 4 </a:t>
            </a:r>
            <a:r>
              <a:rPr lang="en-GB" b="1" dirty="0" err="1"/>
              <a:t>direcții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Proiectul</a:t>
            </a:r>
            <a:r>
              <a:rPr lang="en-GB" dirty="0"/>
              <a:t> </a:t>
            </a:r>
            <a:r>
              <a:rPr lang="en-GB" dirty="0" err="1"/>
              <a:t>îmbină</a:t>
            </a:r>
            <a:r>
              <a:rPr lang="en-GB" dirty="0"/>
              <a:t> </a:t>
            </a:r>
            <a:r>
              <a:rPr lang="en-GB" dirty="0" err="1"/>
              <a:t>teoria</a:t>
            </a:r>
            <a:r>
              <a:rPr lang="en-GB" dirty="0"/>
              <a:t>, hardware-ul, software-ul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validarea</a:t>
            </a:r>
            <a:r>
              <a:rPr lang="en-GB" dirty="0"/>
              <a:t> </a:t>
            </a:r>
            <a:r>
              <a:rPr lang="en-GB" dirty="0" err="1"/>
              <a:t>practică</a:t>
            </a:r>
            <a:r>
              <a:rPr lang="en-GB" dirty="0"/>
              <a:t>, </a:t>
            </a:r>
            <a:r>
              <a:rPr lang="en-GB" dirty="0" err="1"/>
              <a:t>focusându</a:t>
            </a:r>
            <a:r>
              <a:rPr lang="en-GB" dirty="0"/>
              <a:t>-se strict pe </a:t>
            </a:r>
            <a:r>
              <a:rPr lang="en-GB" dirty="0" err="1"/>
              <a:t>funcția</a:t>
            </a:r>
            <a:r>
              <a:rPr lang="en-GB" dirty="0"/>
              <a:t> de </a:t>
            </a:r>
            <a:r>
              <a:rPr lang="en-GB" dirty="0" err="1"/>
              <a:t>acordare</a:t>
            </a:r>
            <a:r>
              <a:rPr lang="en-GB" dirty="0"/>
              <a:t> </a:t>
            </a:r>
            <a:r>
              <a:rPr lang="en-GB" dirty="0" err="1"/>
              <a:t>stabilă</a:t>
            </a:r>
            <a:r>
              <a:rPr lang="en-GB" dirty="0"/>
              <a:t>.</a:t>
            </a:r>
          </a:p>
          <a:p>
            <a:r>
              <a:rPr lang="en-GB" b="1" dirty="0" err="1"/>
              <a:t>Metoda</a:t>
            </a:r>
            <a:r>
              <a:rPr lang="en-GB" b="1" dirty="0"/>
              <a:t>:</a:t>
            </a:r>
            <a:r>
              <a:rPr lang="en-GB" dirty="0"/>
              <a:t> Am </a:t>
            </a:r>
            <a:r>
              <a:rPr lang="en-GB" dirty="0" err="1"/>
              <a:t>folosit</a:t>
            </a:r>
            <a:r>
              <a:rPr lang="en-GB" dirty="0"/>
              <a:t> </a:t>
            </a:r>
            <a:r>
              <a:rPr lang="en-GB" i="1" dirty="0" err="1"/>
              <a:t>Modelul</a:t>
            </a:r>
            <a:r>
              <a:rPr lang="en-GB" i="1" dirty="0"/>
              <a:t> </a:t>
            </a:r>
            <a:r>
              <a:rPr lang="en-GB" i="1" dirty="0" err="1"/>
              <a:t>în</a:t>
            </a:r>
            <a:r>
              <a:rPr lang="en-GB" i="1" dirty="0"/>
              <a:t> V</a:t>
            </a:r>
            <a:r>
              <a:rPr lang="en-GB" dirty="0"/>
              <a:t>, </a:t>
            </a:r>
            <a:r>
              <a:rPr lang="en-GB" dirty="0" err="1"/>
              <a:t>testând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validând</a:t>
            </a:r>
            <a:r>
              <a:rPr lang="en-GB" dirty="0"/>
              <a:t> </a:t>
            </a:r>
            <a:r>
              <a:rPr lang="en-GB" dirty="0" err="1"/>
              <a:t>fiecare</a:t>
            </a:r>
            <a:r>
              <a:rPr lang="en-GB" dirty="0"/>
              <a:t> </a:t>
            </a:r>
            <a:r>
              <a:rPr lang="en-GB" dirty="0" err="1"/>
              <a:t>modul</a:t>
            </a:r>
            <a:r>
              <a:rPr lang="en-GB" dirty="0"/>
              <a:t> software </a:t>
            </a:r>
            <a:r>
              <a:rPr lang="en-GB" dirty="0" err="1"/>
              <a:t>sau</a:t>
            </a:r>
            <a:r>
              <a:rPr lang="en-GB" dirty="0"/>
              <a:t> hardware </a:t>
            </a:r>
            <a:r>
              <a:rPr lang="en-GB" dirty="0" err="1"/>
              <a:t>separat</a:t>
            </a:r>
            <a:r>
              <a:rPr lang="en-GB" dirty="0"/>
              <a:t>, </a:t>
            </a:r>
            <a:r>
              <a:rPr lang="en-GB" dirty="0" err="1"/>
              <a:t>înainte</a:t>
            </a:r>
            <a:r>
              <a:rPr lang="en-GB" dirty="0"/>
              <a:t> de a le </a:t>
            </a:r>
            <a:r>
              <a:rPr lang="en-GB" dirty="0" err="1"/>
              <a:t>asambla</a:t>
            </a:r>
            <a:r>
              <a:rPr lang="en-GB" dirty="0"/>
              <a:t>.</a:t>
            </a:r>
          </a:p>
          <a:p>
            <a:r>
              <a:rPr lang="en-GB" b="1" dirty="0" err="1"/>
              <a:t>Ținta</a:t>
            </a:r>
            <a:r>
              <a:rPr lang="en-GB" b="1" dirty="0"/>
              <a:t> de </a:t>
            </a:r>
            <a:r>
              <a:rPr lang="en-GB" b="1" dirty="0" err="1"/>
              <a:t>viitor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Transformarea</a:t>
            </a:r>
            <a:r>
              <a:rPr lang="en-GB" dirty="0"/>
              <a:t> </a:t>
            </a:r>
            <a:r>
              <a:rPr lang="en-GB" dirty="0" err="1"/>
              <a:t>prototipului</a:t>
            </a:r>
            <a:r>
              <a:rPr lang="en-GB" dirty="0"/>
              <a:t> actual </a:t>
            </a:r>
            <a:r>
              <a:rPr lang="en-GB" dirty="0" err="1"/>
              <a:t>într</a:t>
            </a:r>
            <a:r>
              <a:rPr lang="en-GB" dirty="0"/>
              <a:t>-un </a:t>
            </a:r>
            <a:r>
              <a:rPr lang="en-GB" dirty="0" err="1"/>
              <a:t>dispozitiv</a:t>
            </a:r>
            <a:r>
              <a:rPr lang="en-GB" dirty="0"/>
              <a:t> </a:t>
            </a:r>
            <a:r>
              <a:rPr lang="en-GB" dirty="0" err="1"/>
              <a:t>portabil</a:t>
            </a:r>
            <a:r>
              <a:rPr lang="en-GB" dirty="0"/>
              <a:t>, ergonomic, </a:t>
            </a:r>
            <a:r>
              <a:rPr lang="en-GB" dirty="0" err="1"/>
              <a:t>ținut</a:t>
            </a:r>
            <a:r>
              <a:rPr lang="en-GB" dirty="0"/>
              <a:t> </a:t>
            </a:r>
            <a:r>
              <a:rPr lang="en-GB" dirty="0" err="1"/>
              <a:t>într</a:t>
            </a:r>
            <a:r>
              <a:rPr lang="en-GB" dirty="0"/>
              <a:t>-o </a:t>
            </a:r>
            <a:r>
              <a:rPr lang="en-GB" dirty="0" err="1"/>
              <a:t>singură</a:t>
            </a:r>
            <a:r>
              <a:rPr lang="en-GB" dirty="0"/>
              <a:t> </a:t>
            </a:r>
            <a:r>
              <a:rPr lang="en-GB" dirty="0" err="1"/>
              <a:t>mână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alimentat</a:t>
            </a:r>
            <a:r>
              <a:rPr lang="en-GB" dirty="0"/>
              <a:t> pe </a:t>
            </a:r>
            <a:r>
              <a:rPr lang="en-GB" dirty="0" err="1"/>
              <a:t>baterii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err="1"/>
              <a:t>Baza</a:t>
            </a:r>
            <a:r>
              <a:rPr lang="en-GB" b="1" dirty="0"/>
              <a:t> </a:t>
            </a:r>
            <a:r>
              <a:rPr lang="en-GB" b="1" dirty="0" err="1"/>
              <a:t>fizică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Frecvența</a:t>
            </a:r>
            <a:r>
              <a:rPr lang="en-GB" dirty="0"/>
              <a:t> </a:t>
            </a:r>
            <a:r>
              <a:rPr lang="en-GB" dirty="0" err="1"/>
              <a:t>corzii</a:t>
            </a:r>
            <a:r>
              <a:rPr lang="en-GB" dirty="0"/>
              <a:t> se </a:t>
            </a:r>
            <a:r>
              <a:rPr lang="en-GB" dirty="0" err="1"/>
              <a:t>supune</a:t>
            </a:r>
            <a:r>
              <a:rPr lang="en-GB" dirty="0"/>
              <a:t> </a:t>
            </a:r>
            <a:r>
              <a:rPr lang="en-GB" dirty="0" err="1"/>
              <a:t>Legii</a:t>
            </a:r>
            <a:r>
              <a:rPr lang="en-GB" dirty="0"/>
              <a:t> </a:t>
            </a:r>
            <a:r>
              <a:rPr lang="en-GB" dirty="0" err="1"/>
              <a:t>lui</a:t>
            </a:r>
            <a:r>
              <a:rPr lang="en-GB" dirty="0"/>
              <a:t> Mersenne.</a:t>
            </a:r>
          </a:p>
          <a:p>
            <a:r>
              <a:rPr lang="en-GB" b="1" dirty="0"/>
              <a:t>Logica:</a:t>
            </a:r>
            <a:r>
              <a:rPr lang="en-GB" dirty="0"/>
              <a:t> </a:t>
            </a:r>
            <a:r>
              <a:rPr lang="en-GB" dirty="0" err="1"/>
              <a:t>Deoarece</a:t>
            </a:r>
            <a:r>
              <a:rPr lang="en-GB" dirty="0"/>
              <a:t> </a:t>
            </a:r>
            <a:r>
              <a:rPr lang="en-GB" dirty="0" err="1"/>
              <a:t>lungimea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masa </a:t>
            </a:r>
            <a:r>
              <a:rPr lang="en-GB" dirty="0" err="1"/>
              <a:t>corzii</a:t>
            </a:r>
            <a:r>
              <a:rPr lang="en-GB" dirty="0"/>
              <a:t> sunt fixe pe </a:t>
            </a:r>
            <a:r>
              <a:rPr lang="en-GB" dirty="0" err="1"/>
              <a:t>chitară</a:t>
            </a:r>
            <a:r>
              <a:rPr lang="en-GB" dirty="0"/>
              <a:t>, </a:t>
            </a:r>
            <a:r>
              <a:rPr lang="en-GB" dirty="0" err="1"/>
              <a:t>singura</a:t>
            </a:r>
            <a:r>
              <a:rPr lang="en-GB" dirty="0"/>
              <a:t> </a:t>
            </a:r>
            <a:r>
              <a:rPr lang="en-GB" dirty="0" err="1"/>
              <a:t>modalitate</a:t>
            </a:r>
            <a:r>
              <a:rPr lang="en-GB" dirty="0"/>
              <a:t> de a </a:t>
            </a:r>
            <a:r>
              <a:rPr lang="en-GB" dirty="0" err="1"/>
              <a:t>schimba</a:t>
            </a:r>
            <a:r>
              <a:rPr lang="en-GB" dirty="0"/>
              <a:t> nota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modificăm</a:t>
            </a:r>
            <a:r>
              <a:rPr lang="en-GB" dirty="0"/>
              <a:t> </a:t>
            </a:r>
            <a:r>
              <a:rPr lang="en-GB" b="1" dirty="0" err="1"/>
              <a:t>tensiunea</a:t>
            </a:r>
            <a:r>
              <a:rPr lang="en-GB" b="1" dirty="0"/>
              <a:t> </a:t>
            </a:r>
            <a:r>
              <a:rPr lang="en-GB" b="1" dirty="0" err="1"/>
              <a:t>mecanică</a:t>
            </a:r>
            <a:r>
              <a:rPr lang="en-GB" dirty="0"/>
              <a:t> </a:t>
            </a:r>
            <a:r>
              <a:rPr lang="en-GB" dirty="0" err="1"/>
              <a:t>rotind</a:t>
            </a:r>
            <a:r>
              <a:rPr lang="en-GB" dirty="0"/>
              <a:t> </a:t>
            </a:r>
            <a:r>
              <a:rPr lang="en-GB" dirty="0" err="1"/>
              <a:t>cheia</a:t>
            </a:r>
            <a:r>
              <a:rPr lang="en-GB" dirty="0"/>
              <a:t>.</a:t>
            </a:r>
          </a:p>
          <a:p>
            <a:r>
              <a:rPr lang="en-GB" b="1" dirty="0" err="1"/>
              <a:t>Neliniaritatea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Relația</a:t>
            </a:r>
            <a:r>
              <a:rPr lang="en-GB" dirty="0"/>
              <a:t>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neliniară</a:t>
            </a:r>
            <a:r>
              <a:rPr lang="en-GB" dirty="0"/>
              <a:t> (</a:t>
            </a:r>
            <a:r>
              <a:rPr lang="en-GB" dirty="0" err="1"/>
              <a:t>frecvența</a:t>
            </a:r>
            <a:r>
              <a:rPr lang="en-GB" dirty="0"/>
              <a:t> </a:t>
            </a:r>
            <a:r>
              <a:rPr lang="en-GB" dirty="0" err="1"/>
              <a:t>depinde</a:t>
            </a:r>
            <a:r>
              <a:rPr lang="en-GB" dirty="0"/>
              <a:t> de </a:t>
            </a:r>
            <a:r>
              <a:rPr lang="en-GB" i="1" dirty="0"/>
              <a:t>radical</a:t>
            </a:r>
            <a:r>
              <a:rPr lang="en-GB" dirty="0"/>
              <a:t> din </a:t>
            </a:r>
            <a:r>
              <a:rPr lang="en-GB" dirty="0" err="1"/>
              <a:t>tensiune</a:t>
            </a:r>
            <a:r>
              <a:rPr lang="en-GB" dirty="0"/>
              <a:t>). </a:t>
            </a:r>
            <a:r>
              <a:rPr lang="en-GB" dirty="0" err="1"/>
              <a:t>Acest</a:t>
            </a:r>
            <a:r>
              <a:rPr lang="en-GB" dirty="0"/>
              <a:t> </a:t>
            </a:r>
            <a:r>
              <a:rPr lang="en-GB" dirty="0" err="1"/>
              <a:t>detaliu</a:t>
            </a:r>
            <a:r>
              <a:rPr lang="en-GB" dirty="0"/>
              <a:t> </a:t>
            </a:r>
            <a:r>
              <a:rPr lang="en-GB" dirty="0" err="1"/>
              <a:t>fizic</a:t>
            </a:r>
            <a:r>
              <a:rPr lang="en-GB" dirty="0"/>
              <a:t> </a:t>
            </a:r>
            <a:r>
              <a:rPr lang="en-GB" dirty="0" err="1"/>
              <a:t>justifică</a:t>
            </a:r>
            <a:r>
              <a:rPr lang="en-GB" dirty="0"/>
              <a:t> </a:t>
            </a:r>
            <a:r>
              <a:rPr lang="en-GB" dirty="0" err="1"/>
              <a:t>decizia</a:t>
            </a:r>
            <a:r>
              <a:rPr lang="en-GB" dirty="0"/>
              <a:t> de a </a:t>
            </a:r>
            <a:r>
              <a:rPr lang="en-GB" dirty="0" err="1"/>
              <a:t>folosi</a:t>
            </a:r>
            <a:r>
              <a:rPr lang="en-GB" dirty="0"/>
              <a:t> o </a:t>
            </a:r>
            <a:r>
              <a:rPr lang="en-GB" dirty="0" err="1"/>
              <a:t>lege</a:t>
            </a:r>
            <a:r>
              <a:rPr lang="en-GB" dirty="0"/>
              <a:t> de control </a:t>
            </a:r>
            <a:r>
              <a:rPr lang="en-GB" dirty="0" err="1"/>
              <a:t>inteligentă</a:t>
            </a:r>
            <a:r>
              <a:rPr lang="en-GB" dirty="0"/>
              <a:t> pe </a:t>
            </a:r>
            <a:r>
              <a:rPr lang="en-GB" dirty="0" err="1"/>
              <a:t>trepte</a:t>
            </a:r>
            <a:r>
              <a:rPr lang="en-GB" dirty="0"/>
              <a:t>, nu una </a:t>
            </a:r>
            <a:r>
              <a:rPr lang="en-GB" dirty="0" err="1"/>
              <a:t>liniară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err="1"/>
              <a:t>Achiziția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Preluăm</a:t>
            </a:r>
            <a:r>
              <a:rPr lang="en-GB" dirty="0"/>
              <a:t> 512 </a:t>
            </a:r>
            <a:r>
              <a:rPr lang="en-GB" dirty="0" err="1"/>
              <a:t>eșantioane</a:t>
            </a:r>
            <a:r>
              <a:rPr lang="en-GB" dirty="0"/>
              <a:t> de </a:t>
            </a:r>
            <a:r>
              <a:rPr lang="en-GB" dirty="0" err="1"/>
              <a:t>sunet</a:t>
            </a:r>
            <a:r>
              <a:rPr lang="en-GB" dirty="0"/>
              <a:t> la 8000 Hz </a:t>
            </a:r>
            <a:r>
              <a:rPr lang="en-GB" dirty="0" err="1"/>
              <a:t>și</a:t>
            </a:r>
            <a:r>
              <a:rPr lang="en-GB" dirty="0"/>
              <a:t> le </a:t>
            </a:r>
            <a:r>
              <a:rPr lang="en-GB" dirty="0" err="1"/>
              <a:t>trecem</a:t>
            </a:r>
            <a:r>
              <a:rPr lang="en-GB" dirty="0"/>
              <a:t> </a:t>
            </a:r>
            <a:r>
              <a:rPr lang="en-GB" dirty="0" err="1"/>
              <a:t>prin</a:t>
            </a:r>
            <a:r>
              <a:rPr lang="en-GB" dirty="0"/>
              <a:t> </a:t>
            </a:r>
            <a:r>
              <a:rPr lang="en-GB" i="1" dirty="0" err="1"/>
              <a:t>Fereastra</a:t>
            </a:r>
            <a:r>
              <a:rPr lang="en-GB" i="1" dirty="0"/>
              <a:t> Hamming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a </a:t>
            </a:r>
            <a:r>
              <a:rPr lang="en-GB" dirty="0" err="1"/>
              <a:t>tăia</a:t>
            </a:r>
            <a:r>
              <a:rPr lang="en-GB" dirty="0"/>
              <a:t> </a:t>
            </a:r>
            <a:r>
              <a:rPr lang="en-GB" dirty="0" err="1"/>
              <a:t>zgomotul</a:t>
            </a:r>
            <a:r>
              <a:rPr lang="en-GB" dirty="0"/>
              <a:t> de la </a:t>
            </a:r>
            <a:r>
              <a:rPr lang="en-GB" dirty="0" err="1"/>
              <a:t>capete</a:t>
            </a:r>
            <a:r>
              <a:rPr lang="en-GB" dirty="0"/>
              <a:t> (</a:t>
            </a:r>
            <a:r>
              <a:rPr lang="en-GB" dirty="0" err="1"/>
              <a:t>scurgerea</a:t>
            </a:r>
            <a:r>
              <a:rPr lang="en-GB" dirty="0"/>
              <a:t> </a:t>
            </a:r>
            <a:r>
              <a:rPr lang="en-GB" dirty="0" err="1"/>
              <a:t>spectrală</a:t>
            </a:r>
            <a:r>
              <a:rPr lang="en-GB" dirty="0"/>
              <a:t>).</a:t>
            </a:r>
          </a:p>
          <a:p>
            <a:r>
              <a:rPr lang="en-GB" b="1" dirty="0" err="1"/>
              <a:t>Problema</a:t>
            </a:r>
            <a:r>
              <a:rPr lang="en-GB" b="1" dirty="0"/>
              <a:t> FFT:</a:t>
            </a:r>
            <a:r>
              <a:rPr lang="en-GB" dirty="0"/>
              <a:t> </a:t>
            </a:r>
            <a:r>
              <a:rPr lang="en-GB" dirty="0" err="1"/>
              <a:t>Transformata</a:t>
            </a:r>
            <a:r>
              <a:rPr lang="en-GB" dirty="0"/>
              <a:t> Fourier ne </a:t>
            </a:r>
            <a:r>
              <a:rPr lang="en-GB" dirty="0" err="1"/>
              <a:t>dă</a:t>
            </a:r>
            <a:r>
              <a:rPr lang="en-GB" dirty="0"/>
              <a:t> </a:t>
            </a:r>
            <a:r>
              <a:rPr lang="en-GB" dirty="0" err="1"/>
              <a:t>frecvența</a:t>
            </a:r>
            <a:r>
              <a:rPr lang="en-GB" dirty="0"/>
              <a:t>, </a:t>
            </a:r>
            <a:r>
              <a:rPr lang="en-GB" dirty="0" err="1"/>
              <a:t>dar</a:t>
            </a:r>
            <a:r>
              <a:rPr lang="en-GB" dirty="0"/>
              <a:t> cu o </a:t>
            </a:r>
            <a:r>
              <a:rPr lang="en-GB" dirty="0" err="1"/>
              <a:t>precizie</a:t>
            </a:r>
            <a:r>
              <a:rPr lang="en-GB" dirty="0"/>
              <a:t> </a:t>
            </a:r>
            <a:r>
              <a:rPr lang="en-GB" dirty="0" err="1"/>
              <a:t>foarte</a:t>
            </a:r>
            <a:r>
              <a:rPr lang="en-GB" dirty="0"/>
              <a:t> </a:t>
            </a:r>
            <a:r>
              <a:rPr lang="en-GB" dirty="0" err="1"/>
              <a:t>slabă</a:t>
            </a:r>
            <a:r>
              <a:rPr lang="en-GB" dirty="0"/>
              <a:t>, din 15 </a:t>
            </a:r>
            <a:r>
              <a:rPr lang="en-GB" dirty="0" err="1"/>
              <a:t>în</a:t>
            </a:r>
            <a:r>
              <a:rPr lang="en-GB" dirty="0"/>
              <a:t> 15 Hz.</a:t>
            </a:r>
          </a:p>
          <a:p>
            <a:r>
              <a:rPr lang="en-GB" b="1" dirty="0" err="1"/>
              <a:t>Soluția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i="1" dirty="0" err="1"/>
              <a:t>Interpolarea</a:t>
            </a:r>
            <a:r>
              <a:rPr lang="en-GB" i="1" dirty="0"/>
              <a:t> </a:t>
            </a:r>
            <a:r>
              <a:rPr lang="en-GB" i="1" dirty="0" err="1"/>
              <a:t>parabolică</a:t>
            </a:r>
            <a:r>
              <a:rPr lang="en-GB" dirty="0"/>
              <a:t>. </a:t>
            </a:r>
            <a:r>
              <a:rPr lang="en-GB" dirty="0" err="1"/>
              <a:t>Funcționează</a:t>
            </a:r>
            <a:r>
              <a:rPr lang="en-GB" dirty="0"/>
              <a:t> ca un zoom </a:t>
            </a:r>
            <a:r>
              <a:rPr lang="en-GB" dirty="0" err="1"/>
              <a:t>matematic</a:t>
            </a:r>
            <a:r>
              <a:rPr lang="en-GB" dirty="0"/>
              <a:t> </a:t>
            </a:r>
            <a:r>
              <a:rPr lang="en-GB" dirty="0" err="1"/>
              <a:t>între</a:t>
            </a:r>
            <a:r>
              <a:rPr lang="en-GB" dirty="0"/>
              <a:t> </a:t>
            </a:r>
            <a:r>
              <a:rPr lang="en-GB" dirty="0" err="1"/>
              <a:t>punctele</a:t>
            </a:r>
            <a:r>
              <a:rPr lang="en-GB" dirty="0"/>
              <a:t> FFT-</a:t>
            </a:r>
            <a:r>
              <a:rPr lang="en-GB" dirty="0" err="1"/>
              <a:t>ului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ne </a:t>
            </a:r>
            <a:r>
              <a:rPr lang="en-GB" dirty="0" err="1"/>
              <a:t>oferă</a:t>
            </a:r>
            <a:r>
              <a:rPr lang="en-GB" dirty="0"/>
              <a:t> </a:t>
            </a:r>
            <a:r>
              <a:rPr lang="en-GB" dirty="0" err="1"/>
              <a:t>frecvența</a:t>
            </a:r>
            <a:r>
              <a:rPr lang="en-GB" dirty="0"/>
              <a:t> </a:t>
            </a:r>
            <a:r>
              <a:rPr lang="en-GB" dirty="0" err="1"/>
              <a:t>exactă</a:t>
            </a:r>
            <a:r>
              <a:rPr lang="en-GB" dirty="0"/>
              <a:t>, la </a:t>
            </a:r>
            <a:r>
              <a:rPr lang="en-GB" dirty="0" err="1"/>
              <a:t>nivel</a:t>
            </a:r>
            <a:r>
              <a:rPr lang="en-GB" dirty="0"/>
              <a:t> de </a:t>
            </a:r>
            <a:r>
              <a:rPr lang="en-GB" dirty="0" err="1"/>
              <a:t>cenți</a:t>
            </a:r>
            <a:r>
              <a:rPr lang="en-GB" dirty="0"/>
              <a:t>, </a:t>
            </a:r>
            <a:r>
              <a:rPr lang="en-GB" dirty="0" err="1"/>
              <a:t>fără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blocheze</a:t>
            </a:r>
            <a:r>
              <a:rPr lang="en-GB" dirty="0"/>
              <a:t> </a:t>
            </a:r>
            <a:r>
              <a:rPr lang="en-GB" dirty="0" err="1"/>
              <a:t>procesorul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err="1"/>
              <a:t>Problema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Semnalul</a:t>
            </a:r>
            <a:r>
              <a:rPr lang="en-GB" dirty="0"/>
              <a:t> brut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plin</a:t>
            </a:r>
            <a:r>
              <a:rPr lang="en-GB" dirty="0"/>
              <a:t> de </a:t>
            </a:r>
            <a:r>
              <a:rPr lang="en-GB" dirty="0" err="1"/>
              <a:t>zgomot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vârfuri</a:t>
            </a:r>
            <a:r>
              <a:rPr lang="en-GB" dirty="0"/>
              <a:t> </a:t>
            </a:r>
            <a:r>
              <a:rPr lang="en-GB" dirty="0" err="1"/>
              <a:t>aberante</a:t>
            </a:r>
            <a:r>
              <a:rPr lang="en-GB" dirty="0"/>
              <a:t> (</a:t>
            </a:r>
            <a:r>
              <a:rPr lang="en-GB" dirty="0" err="1"/>
              <a:t>citiri</a:t>
            </a:r>
            <a:r>
              <a:rPr lang="en-GB" dirty="0"/>
              <a:t> </a:t>
            </a:r>
            <a:r>
              <a:rPr lang="en-GB" dirty="0" err="1"/>
              <a:t>complet</a:t>
            </a:r>
            <a:r>
              <a:rPr lang="en-GB" dirty="0"/>
              <a:t> </a:t>
            </a:r>
            <a:r>
              <a:rPr lang="en-GB" dirty="0" err="1"/>
              <a:t>greșite</a:t>
            </a:r>
            <a:r>
              <a:rPr lang="en-GB" dirty="0"/>
              <a:t>).</a:t>
            </a:r>
          </a:p>
          <a:p>
            <a:r>
              <a:rPr lang="en-GB" b="1" dirty="0"/>
              <a:t>Cum </a:t>
            </a:r>
            <a:r>
              <a:rPr lang="en-GB" b="1" dirty="0" err="1"/>
              <a:t>funcționează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Memorează</a:t>
            </a:r>
            <a:r>
              <a:rPr lang="en-GB" dirty="0"/>
              <a:t> </a:t>
            </a:r>
            <a:r>
              <a:rPr lang="en-GB" dirty="0" err="1"/>
              <a:t>ultimele</a:t>
            </a:r>
            <a:r>
              <a:rPr lang="en-GB" dirty="0"/>
              <a:t> 5 </a:t>
            </a:r>
            <a:r>
              <a:rPr lang="en-GB" dirty="0" err="1"/>
              <a:t>citiri</a:t>
            </a:r>
            <a:r>
              <a:rPr lang="en-GB" dirty="0"/>
              <a:t>, le </a:t>
            </a:r>
            <a:r>
              <a:rPr lang="en-GB" dirty="0" err="1"/>
              <a:t>sortează</a:t>
            </a:r>
            <a:r>
              <a:rPr lang="en-GB" dirty="0"/>
              <a:t> </a:t>
            </a:r>
            <a:r>
              <a:rPr lang="en-GB" dirty="0" err="1"/>
              <a:t>crescător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o </a:t>
            </a:r>
            <a:r>
              <a:rPr lang="en-GB" dirty="0" err="1"/>
              <a:t>trimite</a:t>
            </a:r>
            <a:r>
              <a:rPr lang="en-GB" dirty="0"/>
              <a:t>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departe</a:t>
            </a:r>
            <a:r>
              <a:rPr lang="en-GB" dirty="0"/>
              <a:t> </a:t>
            </a:r>
            <a:r>
              <a:rPr lang="en-GB" dirty="0" err="1"/>
              <a:t>doar</a:t>
            </a:r>
            <a:r>
              <a:rPr lang="en-GB" dirty="0"/>
              <a:t> pe </a:t>
            </a:r>
            <a:r>
              <a:rPr lang="en-GB" dirty="0" err="1"/>
              <a:t>cea</a:t>
            </a:r>
            <a:r>
              <a:rPr lang="en-GB" dirty="0"/>
              <a:t> din </a:t>
            </a:r>
            <a:r>
              <a:rPr lang="en-GB" dirty="0" err="1"/>
              <a:t>mijloc</a:t>
            </a:r>
            <a:r>
              <a:rPr lang="en-GB" dirty="0"/>
              <a:t>.</a:t>
            </a:r>
          </a:p>
          <a:p>
            <a:r>
              <a:rPr lang="en-GB" b="1" dirty="0"/>
              <a:t>De </a:t>
            </a:r>
            <a:r>
              <a:rPr lang="en-GB" b="1" dirty="0" err="1"/>
              <a:t>ce</a:t>
            </a:r>
            <a:r>
              <a:rPr lang="en-GB" b="1" dirty="0"/>
              <a:t> e </a:t>
            </a:r>
            <a:r>
              <a:rPr lang="en-GB" b="1" dirty="0" err="1"/>
              <a:t>mai</a:t>
            </a:r>
            <a:r>
              <a:rPr lang="en-GB" b="1" dirty="0"/>
              <a:t> bun ca media:</a:t>
            </a:r>
            <a:r>
              <a:rPr lang="en-GB" dirty="0"/>
              <a:t> </a:t>
            </a:r>
            <a:r>
              <a:rPr lang="en-GB" dirty="0" err="1"/>
              <a:t>Spre</a:t>
            </a:r>
            <a:r>
              <a:rPr lang="en-GB" dirty="0"/>
              <a:t> </a:t>
            </a:r>
            <a:r>
              <a:rPr lang="en-GB" dirty="0" err="1"/>
              <a:t>deosebire</a:t>
            </a:r>
            <a:r>
              <a:rPr lang="en-GB" dirty="0"/>
              <a:t> de o </a:t>
            </a:r>
            <a:r>
              <a:rPr lang="en-GB" dirty="0" err="1"/>
              <a:t>medie</a:t>
            </a:r>
            <a:r>
              <a:rPr lang="en-GB" dirty="0"/>
              <a:t> </a:t>
            </a:r>
            <a:r>
              <a:rPr lang="en-GB" dirty="0" err="1"/>
              <a:t>aritmetică</a:t>
            </a:r>
            <a:r>
              <a:rPr lang="en-GB" dirty="0"/>
              <a:t> </a:t>
            </a:r>
            <a:r>
              <a:rPr lang="en-GB" dirty="0" err="1"/>
              <a:t>simplă</a:t>
            </a:r>
            <a:r>
              <a:rPr lang="en-GB" dirty="0"/>
              <a:t>, </a:t>
            </a:r>
            <a:r>
              <a:rPr lang="en-GB" dirty="0" err="1"/>
              <a:t>mediana</a:t>
            </a:r>
            <a:r>
              <a:rPr lang="en-GB" dirty="0"/>
              <a:t> nu se </a:t>
            </a:r>
            <a:r>
              <a:rPr lang="en-GB" dirty="0" err="1"/>
              <a:t>lasă</a:t>
            </a:r>
            <a:r>
              <a:rPr lang="en-GB" dirty="0"/>
              <a:t> </a:t>
            </a:r>
            <a:r>
              <a:rPr lang="en-GB" dirty="0" err="1"/>
              <a:t>deloc</a:t>
            </a:r>
            <a:r>
              <a:rPr lang="en-GB" dirty="0"/>
              <a:t> </a:t>
            </a:r>
            <a:r>
              <a:rPr lang="en-GB" dirty="0" err="1"/>
              <a:t>păcălită</a:t>
            </a:r>
            <a:r>
              <a:rPr lang="en-GB" dirty="0"/>
              <a:t> </a:t>
            </a:r>
            <a:r>
              <a:rPr lang="en-GB" dirty="0" err="1"/>
              <a:t>sau</a:t>
            </a:r>
            <a:r>
              <a:rPr lang="en-GB" dirty="0"/>
              <a:t> </a:t>
            </a:r>
            <a:r>
              <a:rPr lang="en-GB" dirty="0" err="1"/>
              <a:t>trasă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jos</a:t>
            </a:r>
            <a:r>
              <a:rPr lang="en-GB" dirty="0"/>
              <a:t> de o </a:t>
            </a:r>
            <a:r>
              <a:rPr lang="en-GB" dirty="0" err="1"/>
              <a:t>citire</a:t>
            </a:r>
            <a:r>
              <a:rPr lang="en-GB" dirty="0"/>
              <a:t> </a:t>
            </a:r>
            <a:r>
              <a:rPr lang="en-GB" dirty="0" err="1"/>
              <a:t>singulară</a:t>
            </a:r>
            <a:r>
              <a:rPr lang="en-GB" dirty="0"/>
              <a:t> </a:t>
            </a:r>
            <a:r>
              <a:rPr lang="en-GB" dirty="0" err="1"/>
              <a:t>eronată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err="1"/>
              <a:t>Rolul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Funcționează</a:t>
            </a:r>
            <a:r>
              <a:rPr lang="en-GB" dirty="0"/>
              <a:t> ca un </a:t>
            </a:r>
            <a:r>
              <a:rPr lang="en-GB" dirty="0" err="1"/>
              <a:t>amortizor</a:t>
            </a:r>
            <a:r>
              <a:rPr lang="en-GB" dirty="0"/>
              <a:t>. Face o </a:t>
            </a:r>
            <a:r>
              <a:rPr lang="en-GB" dirty="0" err="1"/>
              <a:t>netezire</a:t>
            </a:r>
            <a:r>
              <a:rPr lang="en-GB" dirty="0"/>
              <a:t> </a:t>
            </a:r>
            <a:r>
              <a:rPr lang="en-GB" dirty="0" err="1"/>
              <a:t>exponențială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a </a:t>
            </a:r>
            <a:r>
              <a:rPr lang="en-GB" dirty="0" err="1"/>
              <a:t>calma</a:t>
            </a:r>
            <a:r>
              <a:rPr lang="en-GB" dirty="0"/>
              <a:t> „</a:t>
            </a:r>
            <a:r>
              <a:rPr lang="en-GB" dirty="0" err="1"/>
              <a:t>tremurul</a:t>
            </a:r>
            <a:r>
              <a:rPr lang="en-GB" dirty="0"/>
              <a:t>” </a:t>
            </a:r>
            <a:r>
              <a:rPr lang="en-GB" dirty="0" err="1"/>
              <a:t>foarte</a:t>
            </a:r>
            <a:r>
              <a:rPr lang="en-GB" dirty="0"/>
              <a:t> fin al </a:t>
            </a:r>
            <a:r>
              <a:rPr lang="en-GB" dirty="0" err="1"/>
              <a:t>frecvenței</a:t>
            </a:r>
            <a:r>
              <a:rPr lang="en-GB" dirty="0"/>
              <a:t> </a:t>
            </a:r>
            <a:r>
              <a:rPr lang="en-GB" dirty="0" err="1"/>
              <a:t>detectate</a:t>
            </a:r>
            <a:r>
              <a:rPr lang="en-GB" dirty="0"/>
              <a:t>.</a:t>
            </a:r>
          </a:p>
          <a:p>
            <a:r>
              <a:rPr lang="en-GB" b="1" dirty="0" err="1"/>
              <a:t>Coeficientul</a:t>
            </a:r>
            <a:r>
              <a:rPr lang="en-GB" b="1" dirty="0"/>
              <a:t> 0.7:</a:t>
            </a:r>
            <a:r>
              <a:rPr lang="en-GB" dirty="0"/>
              <a:t> </a:t>
            </a:r>
            <a:r>
              <a:rPr lang="en-GB" dirty="0" err="1"/>
              <a:t>Oferă</a:t>
            </a:r>
            <a:r>
              <a:rPr lang="en-GB" dirty="0"/>
              <a:t> </a:t>
            </a:r>
            <a:r>
              <a:rPr lang="en-GB" dirty="0" err="1"/>
              <a:t>echilibrul</a:t>
            </a:r>
            <a:r>
              <a:rPr lang="en-GB" dirty="0"/>
              <a:t> perfect: </a:t>
            </a:r>
            <a:r>
              <a:rPr lang="en-GB" dirty="0" err="1"/>
              <a:t>taie</a:t>
            </a:r>
            <a:r>
              <a:rPr lang="en-GB" dirty="0"/>
              <a:t> </a:t>
            </a:r>
            <a:r>
              <a:rPr lang="en-GB" dirty="0" err="1"/>
              <a:t>zgomotul</a:t>
            </a:r>
            <a:r>
              <a:rPr lang="en-GB" dirty="0"/>
              <a:t> rapid, </a:t>
            </a:r>
            <a:r>
              <a:rPr lang="en-GB" dirty="0" err="1"/>
              <a:t>dar</a:t>
            </a:r>
            <a:r>
              <a:rPr lang="en-GB" dirty="0"/>
              <a:t> </a:t>
            </a:r>
            <a:r>
              <a:rPr lang="en-GB" dirty="0" err="1"/>
              <a:t>reacționează</a:t>
            </a:r>
            <a:r>
              <a:rPr lang="en-GB" dirty="0"/>
              <a:t> </a:t>
            </a:r>
            <a:r>
              <a:rPr lang="en-GB" dirty="0" err="1"/>
              <a:t>suficient</a:t>
            </a:r>
            <a:r>
              <a:rPr lang="en-GB" dirty="0"/>
              <a:t> de </a:t>
            </a:r>
            <a:r>
              <a:rPr lang="en-GB" dirty="0" err="1"/>
              <a:t>repede</a:t>
            </a:r>
            <a:r>
              <a:rPr lang="en-GB" dirty="0"/>
              <a:t> </a:t>
            </a:r>
            <a:r>
              <a:rPr lang="en-GB" dirty="0" err="1"/>
              <a:t>când</a:t>
            </a:r>
            <a:r>
              <a:rPr lang="en-GB" dirty="0"/>
              <a:t> </a:t>
            </a:r>
            <a:r>
              <a:rPr lang="en-GB" dirty="0" err="1"/>
              <a:t>frecvența</a:t>
            </a:r>
            <a:r>
              <a:rPr lang="en-GB" dirty="0"/>
              <a:t> se </a:t>
            </a:r>
            <a:r>
              <a:rPr lang="en-GB" dirty="0" err="1"/>
              <a:t>schimbă</a:t>
            </a:r>
            <a:r>
              <a:rPr lang="en-GB" dirty="0"/>
              <a:t> real.</a:t>
            </a:r>
            <a:r>
              <a:rPr lang="el-GR" b="1" dirty="0"/>
              <a:t> </a:t>
            </a:r>
            <a:r>
              <a:rPr lang="en-GB" dirty="0"/>
              <a:t>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b="1" dirty="0" err="1"/>
              <a:t>coeficientul</a:t>
            </a:r>
            <a:r>
              <a:rPr lang="en-GB" b="1" dirty="0"/>
              <a:t> de </a:t>
            </a:r>
            <a:r>
              <a:rPr lang="en-GB" b="1" dirty="0" err="1"/>
              <a:t>ponderare</a:t>
            </a:r>
            <a:endParaRPr lang="en-GB" dirty="0"/>
          </a:p>
          <a:p>
            <a:r>
              <a:rPr lang="en-GB" b="1" dirty="0" err="1"/>
              <a:t>Avantaj</a:t>
            </a:r>
            <a:r>
              <a:rPr lang="en-GB" b="1" dirty="0"/>
              <a:t> </a:t>
            </a:r>
            <a:r>
              <a:rPr lang="en-GB" b="1" dirty="0" err="1"/>
              <a:t>tehnic</a:t>
            </a:r>
            <a:r>
              <a:rPr lang="en-GB" b="1" dirty="0"/>
              <a:t>:</a:t>
            </a:r>
            <a:r>
              <a:rPr lang="en-GB" dirty="0"/>
              <a:t> Este </a:t>
            </a:r>
            <a:r>
              <a:rPr lang="en-GB" dirty="0" err="1"/>
              <a:t>extrem</a:t>
            </a:r>
            <a:r>
              <a:rPr lang="en-GB" dirty="0"/>
              <a:t> de </a:t>
            </a:r>
            <a:r>
              <a:rPr lang="en-GB" dirty="0" err="1"/>
              <a:t>ieftin</a:t>
            </a:r>
            <a:r>
              <a:rPr lang="en-GB" dirty="0"/>
              <a:t> de </a:t>
            </a:r>
            <a:r>
              <a:rPr lang="en-GB" dirty="0" err="1"/>
              <a:t>calculat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microcontroler</a:t>
            </a:r>
            <a:r>
              <a:rPr lang="en-GB" dirty="0"/>
              <a:t> (</a:t>
            </a:r>
            <a:r>
              <a:rPr lang="en-GB" dirty="0" err="1"/>
              <a:t>doar</a:t>
            </a:r>
            <a:r>
              <a:rPr lang="en-GB" dirty="0"/>
              <a:t> </a:t>
            </a:r>
            <a:r>
              <a:rPr lang="en-GB" dirty="0" err="1"/>
              <a:t>două</a:t>
            </a:r>
            <a:r>
              <a:rPr lang="en-GB" dirty="0"/>
              <a:t> </a:t>
            </a:r>
            <a:r>
              <a:rPr lang="en-GB" dirty="0" err="1"/>
              <a:t>înmulțiri</a:t>
            </a:r>
            <a:r>
              <a:rPr lang="en-GB" dirty="0"/>
              <a:t> simple pe </a:t>
            </a:r>
            <a:r>
              <a:rPr lang="en-GB" dirty="0" err="1"/>
              <a:t>iterație</a:t>
            </a:r>
            <a:r>
              <a:rPr lang="en-GB" dirty="0"/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err="1"/>
              <a:t>Rolul</a:t>
            </a:r>
            <a:r>
              <a:rPr lang="en-GB" b="1" dirty="0"/>
              <a:t> </a:t>
            </a:r>
            <a:r>
              <a:rPr lang="en-GB" b="1" dirty="0" err="1"/>
              <a:t>suprem</a:t>
            </a:r>
            <a:r>
              <a:rPr lang="en-GB" b="1" dirty="0"/>
              <a:t>:</a:t>
            </a:r>
            <a:r>
              <a:rPr lang="en-GB" dirty="0"/>
              <a:t> Este un estimator optimal. </a:t>
            </a:r>
            <a:r>
              <a:rPr lang="en-GB" dirty="0" err="1"/>
              <a:t>Oferă</a:t>
            </a:r>
            <a:r>
              <a:rPr lang="en-GB" dirty="0"/>
              <a:t> </a:t>
            </a:r>
            <a:r>
              <a:rPr lang="en-GB" dirty="0" err="1"/>
              <a:t>cea</a:t>
            </a:r>
            <a:r>
              <a:rPr lang="en-GB" dirty="0"/>
              <a:t> </a:t>
            </a:r>
            <a:r>
              <a:rPr lang="en-GB" dirty="0" err="1"/>
              <a:t>mai</a:t>
            </a:r>
            <a:r>
              <a:rPr lang="en-GB" dirty="0"/>
              <a:t> </a:t>
            </a:r>
            <a:r>
              <a:rPr lang="en-GB" dirty="0" err="1"/>
              <a:t>curată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stabilă</a:t>
            </a:r>
            <a:r>
              <a:rPr lang="en-GB" dirty="0"/>
              <a:t> </a:t>
            </a:r>
            <a:r>
              <a:rPr lang="en-GB" dirty="0" err="1"/>
              <a:t>valoare</a:t>
            </a:r>
            <a:r>
              <a:rPr lang="en-GB" dirty="0"/>
              <a:t> a </a:t>
            </a:r>
            <a:r>
              <a:rPr lang="en-GB" dirty="0" err="1"/>
              <a:t>frecvenței</a:t>
            </a:r>
            <a:r>
              <a:rPr lang="en-GB" dirty="0"/>
              <a:t> </a:t>
            </a:r>
            <a:r>
              <a:rPr lang="en-GB" dirty="0" err="1"/>
              <a:t>către</a:t>
            </a:r>
            <a:r>
              <a:rPr lang="en-GB" dirty="0"/>
              <a:t> motor.</a:t>
            </a:r>
          </a:p>
          <a:p>
            <a:r>
              <a:rPr lang="en-GB" b="1" dirty="0" err="1"/>
              <a:t>Mecanismul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Funcționează</a:t>
            </a:r>
            <a:r>
              <a:rPr lang="en-GB" dirty="0"/>
              <a:t> </a:t>
            </a:r>
            <a:r>
              <a:rPr lang="en-GB" dirty="0" err="1"/>
              <a:t>anticipând</a:t>
            </a:r>
            <a:r>
              <a:rPr lang="en-GB" dirty="0"/>
              <a:t> </a:t>
            </a:r>
            <a:r>
              <a:rPr lang="en-GB" dirty="0" err="1"/>
              <a:t>matematic</a:t>
            </a:r>
            <a:r>
              <a:rPr lang="en-GB" dirty="0"/>
              <a:t> </a:t>
            </a:r>
            <a:r>
              <a:rPr lang="en-GB" dirty="0" err="1"/>
              <a:t>frecvența</a:t>
            </a:r>
            <a:r>
              <a:rPr lang="en-GB" dirty="0"/>
              <a:t> (</a:t>
            </a:r>
            <a:r>
              <a:rPr lang="en-GB" dirty="0" err="1"/>
              <a:t>predicție</a:t>
            </a:r>
            <a:r>
              <a:rPr lang="en-GB" dirty="0"/>
              <a:t>)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corectând</a:t>
            </a:r>
            <a:r>
              <a:rPr lang="en-GB" dirty="0"/>
              <a:t>-o instant pe </a:t>
            </a:r>
            <a:r>
              <a:rPr lang="en-GB" dirty="0" err="1"/>
              <a:t>baza</a:t>
            </a:r>
            <a:r>
              <a:rPr lang="en-GB" dirty="0"/>
              <a:t> a </a:t>
            </a:r>
            <a:r>
              <a:rPr lang="en-GB" dirty="0" err="1"/>
              <a:t>ceea</a:t>
            </a:r>
            <a:r>
              <a:rPr lang="en-GB" dirty="0"/>
              <a:t> </a:t>
            </a:r>
            <a:r>
              <a:rPr lang="en-GB" dirty="0" err="1"/>
              <a:t>ce</a:t>
            </a:r>
            <a:r>
              <a:rPr lang="en-GB" dirty="0"/>
              <a:t> </a:t>
            </a:r>
            <a:r>
              <a:rPr lang="en-GB" dirty="0" err="1"/>
              <a:t>aude</a:t>
            </a:r>
            <a:r>
              <a:rPr lang="en-GB" dirty="0"/>
              <a:t> </a:t>
            </a:r>
            <a:r>
              <a:rPr lang="en-GB" dirty="0" err="1"/>
              <a:t>microfonul</a:t>
            </a:r>
            <a:r>
              <a:rPr lang="en-GB" dirty="0"/>
              <a:t> (</a:t>
            </a:r>
            <a:r>
              <a:rPr lang="en-GB" dirty="0" err="1"/>
              <a:t>câștigul</a:t>
            </a:r>
            <a:r>
              <a:rPr lang="en-GB" dirty="0"/>
              <a:t> K).</a:t>
            </a:r>
          </a:p>
          <a:p>
            <a:r>
              <a:rPr lang="en-GB" b="1" dirty="0"/>
              <a:t>Reset la salt:</a:t>
            </a:r>
            <a:r>
              <a:rPr lang="en-GB" dirty="0"/>
              <a:t> </a:t>
            </a:r>
            <a:r>
              <a:rPr lang="en-GB" dirty="0" err="1"/>
              <a:t>Dacă</a:t>
            </a:r>
            <a:r>
              <a:rPr lang="en-GB" dirty="0"/>
              <a:t> </a:t>
            </a:r>
            <a:r>
              <a:rPr lang="en-GB" dirty="0" err="1"/>
              <a:t>schimbăm</a:t>
            </a:r>
            <a:r>
              <a:rPr lang="en-GB" dirty="0"/>
              <a:t> </a:t>
            </a:r>
            <a:r>
              <a:rPr lang="en-GB" dirty="0" err="1"/>
              <a:t>brusc</a:t>
            </a:r>
            <a:r>
              <a:rPr lang="en-GB" dirty="0"/>
              <a:t> </a:t>
            </a:r>
            <a:r>
              <a:rPr lang="en-GB" dirty="0" err="1"/>
              <a:t>coarda</a:t>
            </a:r>
            <a:r>
              <a:rPr lang="en-GB" dirty="0"/>
              <a:t> (salt </a:t>
            </a:r>
            <a:r>
              <a:rPr lang="en-GB" dirty="0" err="1"/>
              <a:t>mai</a:t>
            </a:r>
            <a:r>
              <a:rPr lang="en-GB" dirty="0"/>
              <a:t> mare de 25 Hz), </a:t>
            </a:r>
            <a:r>
              <a:rPr lang="en-GB" dirty="0" err="1"/>
              <a:t>filtrul</a:t>
            </a:r>
            <a:r>
              <a:rPr lang="en-GB" dirty="0"/>
              <a:t> </a:t>
            </a:r>
            <a:r>
              <a:rPr lang="en-GB" dirty="0" err="1"/>
              <a:t>își</a:t>
            </a:r>
            <a:r>
              <a:rPr lang="en-GB" dirty="0"/>
              <a:t> </a:t>
            </a:r>
            <a:r>
              <a:rPr lang="en-GB" dirty="0" err="1"/>
              <a:t>resetează</a:t>
            </a:r>
            <a:r>
              <a:rPr lang="en-GB" dirty="0"/>
              <a:t> </a:t>
            </a:r>
            <a:r>
              <a:rPr lang="en-GB" dirty="0" err="1"/>
              <a:t>memoria</a:t>
            </a:r>
            <a:r>
              <a:rPr lang="en-GB" dirty="0"/>
              <a:t> instant </a:t>
            </a:r>
            <a:r>
              <a:rPr lang="en-GB" dirty="0" err="1"/>
              <a:t>pentru</a:t>
            </a:r>
            <a:r>
              <a:rPr lang="en-GB" dirty="0"/>
              <a:t> a </a:t>
            </a:r>
            <a:r>
              <a:rPr lang="en-GB" dirty="0" err="1"/>
              <a:t>anula</a:t>
            </a:r>
            <a:r>
              <a:rPr lang="en-GB" dirty="0"/>
              <a:t> </a:t>
            </a:r>
            <a:r>
              <a:rPr lang="en-GB" dirty="0" err="1"/>
              <a:t>latența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a se </a:t>
            </a:r>
            <a:r>
              <a:rPr lang="en-GB" dirty="0" err="1"/>
              <a:t>adapta</a:t>
            </a:r>
            <a:r>
              <a:rPr lang="en-GB" dirty="0"/>
              <a:t> </a:t>
            </a:r>
            <a:r>
              <a:rPr lang="en-GB" dirty="0" err="1"/>
              <a:t>imediat</a:t>
            </a:r>
            <a:r>
              <a:rPr lang="en-GB" dirty="0"/>
              <a:t> la </a:t>
            </a:r>
            <a:r>
              <a:rPr lang="en-GB" dirty="0" err="1"/>
              <a:t>noua</a:t>
            </a:r>
            <a:r>
              <a:rPr lang="en-GB" dirty="0"/>
              <a:t> </a:t>
            </a:r>
            <a:r>
              <a:rPr lang="en-GB" dirty="0" err="1"/>
              <a:t>notă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err="1"/>
              <a:t>Unitatea</a:t>
            </a:r>
            <a:r>
              <a:rPr lang="en-GB" b="1" dirty="0"/>
              <a:t> de </a:t>
            </a:r>
            <a:r>
              <a:rPr lang="en-GB" b="1" dirty="0" err="1"/>
              <a:t>măsură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Algoritmul</a:t>
            </a:r>
            <a:r>
              <a:rPr lang="en-GB" dirty="0"/>
              <a:t> </a:t>
            </a:r>
            <a:r>
              <a:rPr lang="en-GB" dirty="0" err="1"/>
              <a:t>lucrează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b="1" dirty="0" err="1"/>
              <a:t>cenți</a:t>
            </a:r>
            <a:r>
              <a:rPr lang="en-GB" dirty="0"/>
              <a:t> (</a:t>
            </a:r>
            <a:r>
              <a:rPr lang="en-GB" dirty="0" err="1"/>
              <a:t>scară</a:t>
            </a:r>
            <a:r>
              <a:rPr lang="en-GB" dirty="0"/>
              <a:t> </a:t>
            </a:r>
            <a:r>
              <a:rPr lang="en-GB" dirty="0" err="1"/>
              <a:t>muzicală</a:t>
            </a:r>
            <a:r>
              <a:rPr lang="en-GB" dirty="0"/>
              <a:t>), nu </a:t>
            </a:r>
            <a:r>
              <a:rPr lang="en-GB" dirty="0" err="1"/>
              <a:t>în</a:t>
            </a:r>
            <a:r>
              <a:rPr lang="en-GB" dirty="0"/>
              <a:t> Hz.</a:t>
            </a:r>
          </a:p>
          <a:p>
            <a:r>
              <a:rPr lang="en-GB" b="1" dirty="0"/>
              <a:t>De </a:t>
            </a:r>
            <a:r>
              <a:rPr lang="en-GB" b="1" dirty="0" err="1"/>
              <a:t>ce</a:t>
            </a:r>
            <a:r>
              <a:rPr lang="en-GB" b="1" dirty="0"/>
              <a:t> </a:t>
            </a:r>
            <a:r>
              <a:rPr lang="en-GB" b="1" dirty="0" err="1"/>
              <a:t>Lege</a:t>
            </a:r>
            <a:r>
              <a:rPr lang="en-GB" b="1" dirty="0"/>
              <a:t> pe </a:t>
            </a:r>
            <a:r>
              <a:rPr lang="en-GB" b="1" dirty="0" err="1"/>
              <a:t>trepte</a:t>
            </a:r>
            <a:r>
              <a:rPr lang="en-GB" b="1" dirty="0"/>
              <a:t> </a:t>
            </a:r>
            <a:r>
              <a:rPr lang="en-GB" b="1" dirty="0" err="1"/>
              <a:t>și</a:t>
            </a:r>
            <a:r>
              <a:rPr lang="en-GB" b="1" dirty="0"/>
              <a:t> nu PID:</a:t>
            </a:r>
            <a:r>
              <a:rPr lang="en-GB" dirty="0"/>
              <a:t> Un PID </a:t>
            </a:r>
            <a:r>
              <a:rPr lang="en-GB" dirty="0" err="1"/>
              <a:t>clasic</a:t>
            </a:r>
            <a:r>
              <a:rPr lang="en-GB" dirty="0"/>
              <a:t> </a:t>
            </a:r>
            <a:r>
              <a:rPr lang="en-GB" dirty="0" err="1"/>
              <a:t>ar</a:t>
            </a:r>
            <a:r>
              <a:rPr lang="en-GB" dirty="0"/>
              <a:t> fi </a:t>
            </a:r>
            <a:r>
              <a:rPr lang="en-GB" dirty="0" err="1"/>
              <a:t>intrat</a:t>
            </a:r>
            <a:r>
              <a:rPr lang="en-GB" dirty="0"/>
              <a:t> </a:t>
            </a:r>
            <a:r>
              <a:rPr lang="en-GB" dirty="0" err="1"/>
              <a:t>într</a:t>
            </a:r>
            <a:r>
              <a:rPr lang="en-GB" dirty="0"/>
              <a:t>-o </a:t>
            </a:r>
            <a:r>
              <a:rPr lang="en-GB" dirty="0" err="1"/>
              <a:t>oscilație</a:t>
            </a:r>
            <a:r>
              <a:rPr lang="en-GB" dirty="0"/>
              <a:t> </a:t>
            </a:r>
            <a:r>
              <a:rPr lang="en-GB" dirty="0" err="1"/>
              <a:t>infinită</a:t>
            </a:r>
            <a:r>
              <a:rPr lang="en-GB" dirty="0"/>
              <a:t> din </a:t>
            </a:r>
            <a:r>
              <a:rPr lang="en-GB" dirty="0" err="1"/>
              <a:t>cauza</a:t>
            </a:r>
            <a:r>
              <a:rPr lang="en-GB" dirty="0"/>
              <a:t> </a:t>
            </a:r>
            <a:r>
              <a:rPr lang="en-GB" dirty="0" err="1"/>
              <a:t>jocurilor</a:t>
            </a:r>
            <a:r>
              <a:rPr lang="en-GB" dirty="0"/>
              <a:t> </a:t>
            </a:r>
            <a:r>
              <a:rPr lang="en-GB" dirty="0" err="1"/>
              <a:t>mecanice</a:t>
            </a:r>
            <a:r>
              <a:rPr lang="en-GB" dirty="0"/>
              <a:t> (</a:t>
            </a:r>
            <a:r>
              <a:rPr lang="en-GB" dirty="0" err="1"/>
              <a:t>frecărilor</a:t>
            </a:r>
            <a:r>
              <a:rPr lang="en-GB" dirty="0"/>
              <a:t>) din </a:t>
            </a:r>
            <a:r>
              <a:rPr lang="en-GB" dirty="0" err="1"/>
              <a:t>cheia</a:t>
            </a:r>
            <a:r>
              <a:rPr lang="en-GB" dirty="0"/>
              <a:t> </a:t>
            </a:r>
            <a:r>
              <a:rPr lang="en-GB" dirty="0" err="1"/>
              <a:t>chitarei</a:t>
            </a:r>
            <a:r>
              <a:rPr lang="en-GB" dirty="0"/>
              <a:t>.</a:t>
            </a:r>
          </a:p>
          <a:p>
            <a:r>
              <a:rPr lang="en-GB" b="1" dirty="0"/>
              <a:t>Cum </a:t>
            </a:r>
            <a:r>
              <a:rPr lang="en-GB" b="1" dirty="0" err="1"/>
              <a:t>funcționează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Dă</a:t>
            </a:r>
            <a:r>
              <a:rPr lang="en-GB" dirty="0"/>
              <a:t> </a:t>
            </a:r>
            <a:r>
              <a:rPr lang="en-GB" dirty="0" err="1"/>
              <a:t>pași</a:t>
            </a:r>
            <a:r>
              <a:rPr lang="en-GB" dirty="0"/>
              <a:t> </a:t>
            </a:r>
            <a:r>
              <a:rPr lang="en-GB" dirty="0" err="1"/>
              <a:t>mari</a:t>
            </a:r>
            <a:r>
              <a:rPr lang="en-GB" dirty="0"/>
              <a:t> la </a:t>
            </a:r>
            <a:r>
              <a:rPr lang="en-GB" dirty="0" err="1"/>
              <a:t>eroare</a:t>
            </a:r>
            <a:r>
              <a:rPr lang="en-GB" dirty="0"/>
              <a:t> mare </a:t>
            </a:r>
            <a:r>
              <a:rPr lang="en-GB" dirty="0" err="1"/>
              <a:t>și</a:t>
            </a:r>
            <a:r>
              <a:rPr lang="en-GB" dirty="0"/>
              <a:t> micro-</a:t>
            </a:r>
            <a:r>
              <a:rPr lang="en-GB" dirty="0" err="1"/>
              <a:t>pași</a:t>
            </a:r>
            <a:r>
              <a:rPr lang="en-GB" dirty="0"/>
              <a:t> la </a:t>
            </a:r>
            <a:r>
              <a:rPr lang="en-GB" dirty="0" err="1"/>
              <a:t>eroare</a:t>
            </a:r>
            <a:r>
              <a:rPr lang="en-GB" dirty="0"/>
              <a:t> </a:t>
            </a:r>
            <a:r>
              <a:rPr lang="en-GB" dirty="0" err="1"/>
              <a:t>mică</a:t>
            </a:r>
            <a:r>
              <a:rPr lang="en-GB" dirty="0"/>
              <a:t>.</a:t>
            </a:r>
          </a:p>
          <a:p>
            <a:r>
              <a:rPr lang="en-GB" b="1" dirty="0"/>
              <a:t>Zona </a:t>
            </a:r>
            <a:r>
              <a:rPr lang="en-GB" b="1" dirty="0" err="1"/>
              <a:t>moartă</a:t>
            </a:r>
            <a:r>
              <a:rPr lang="en-GB" b="1" dirty="0"/>
              <a:t> (</a:t>
            </a:r>
            <a:r>
              <a:rPr lang="en-GB" b="1" dirty="0" err="1"/>
              <a:t>Deadband</a:t>
            </a:r>
            <a:r>
              <a:rPr lang="en-GB" b="1" dirty="0"/>
              <a:t>):</a:t>
            </a:r>
            <a:r>
              <a:rPr lang="en-GB" dirty="0"/>
              <a:t> </a:t>
            </a:r>
            <a:r>
              <a:rPr lang="en-GB" dirty="0" err="1"/>
              <a:t>Când</a:t>
            </a:r>
            <a:r>
              <a:rPr lang="en-GB" dirty="0"/>
              <a:t> </a:t>
            </a:r>
            <a:r>
              <a:rPr lang="en-GB" dirty="0" err="1"/>
              <a:t>eroarea</a:t>
            </a:r>
            <a:r>
              <a:rPr lang="en-GB" dirty="0"/>
              <a:t> </a:t>
            </a:r>
            <a:r>
              <a:rPr lang="en-GB" dirty="0" err="1"/>
              <a:t>scade</a:t>
            </a:r>
            <a:r>
              <a:rPr lang="en-GB" dirty="0"/>
              <a:t> sub ±5 </a:t>
            </a:r>
            <a:r>
              <a:rPr lang="en-GB" dirty="0" err="1"/>
              <a:t>cenți</a:t>
            </a:r>
            <a:r>
              <a:rPr lang="en-GB" dirty="0"/>
              <a:t>, </a:t>
            </a:r>
            <a:r>
              <a:rPr lang="en-GB" dirty="0" err="1"/>
              <a:t>motorul</a:t>
            </a:r>
            <a:r>
              <a:rPr lang="en-GB" dirty="0"/>
              <a:t> NEMA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oprit</a:t>
            </a:r>
            <a:r>
              <a:rPr lang="en-GB" dirty="0"/>
              <a:t> </a:t>
            </a:r>
            <a:r>
              <a:rPr lang="en-GB" dirty="0" err="1"/>
              <a:t>complet</a:t>
            </a:r>
            <a:r>
              <a:rPr lang="en-GB" dirty="0"/>
              <a:t>, </a:t>
            </a:r>
            <a:r>
              <a:rPr lang="en-GB" dirty="0" err="1"/>
              <a:t>asigurând</a:t>
            </a:r>
            <a:r>
              <a:rPr lang="en-GB" dirty="0"/>
              <a:t> un </a:t>
            </a:r>
            <a:r>
              <a:rPr lang="en-GB" dirty="0" err="1"/>
              <a:t>acordaj</a:t>
            </a:r>
            <a:r>
              <a:rPr lang="en-GB" dirty="0"/>
              <a:t> </a:t>
            </a:r>
            <a:r>
              <a:rPr lang="en-GB" dirty="0" err="1"/>
              <a:t>stabil</a:t>
            </a:r>
            <a:r>
              <a:rPr lang="en-GB" dirty="0"/>
              <a:t>. </a:t>
            </a:r>
            <a:r>
              <a:rPr lang="en-GB" dirty="0" err="1"/>
              <a:t>Mișcarea</a:t>
            </a:r>
            <a:r>
              <a:rPr lang="en-GB" dirty="0"/>
              <a:t> e </a:t>
            </a:r>
            <a:r>
              <a:rPr lang="en-GB" dirty="0" err="1"/>
              <a:t>transmisă</a:t>
            </a:r>
            <a:r>
              <a:rPr lang="en-GB" dirty="0"/>
              <a:t> </a:t>
            </a:r>
            <a:r>
              <a:rPr lang="en-GB" dirty="0" err="1"/>
              <a:t>printr</a:t>
            </a:r>
            <a:r>
              <a:rPr lang="en-GB" dirty="0"/>
              <a:t>-un </a:t>
            </a:r>
            <a:r>
              <a:rPr lang="en-GB" dirty="0" err="1"/>
              <a:t>cuplaj</a:t>
            </a:r>
            <a:r>
              <a:rPr lang="en-GB" dirty="0"/>
              <a:t> </a:t>
            </a:r>
            <a:r>
              <a:rPr lang="en-GB" dirty="0" err="1"/>
              <a:t>printat</a:t>
            </a:r>
            <a:r>
              <a:rPr lang="en-GB" dirty="0"/>
              <a:t> 3D.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err="1"/>
              <a:t>Validarea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Prototipul</a:t>
            </a:r>
            <a:r>
              <a:rPr lang="en-GB" dirty="0"/>
              <a:t> a </a:t>
            </a:r>
            <a:r>
              <a:rPr lang="en-GB" dirty="0" err="1"/>
              <a:t>fost</a:t>
            </a:r>
            <a:r>
              <a:rPr lang="en-GB" dirty="0"/>
              <a:t> </a:t>
            </a:r>
            <a:r>
              <a:rPr lang="en-GB" dirty="0" err="1"/>
              <a:t>testat</a:t>
            </a:r>
            <a:r>
              <a:rPr lang="en-GB" dirty="0"/>
              <a:t> cu </a:t>
            </a:r>
            <a:r>
              <a:rPr lang="en-GB" dirty="0" err="1"/>
              <a:t>succes</a:t>
            </a:r>
            <a:r>
              <a:rPr lang="en-GB" dirty="0"/>
              <a:t> pe </a:t>
            </a:r>
            <a:r>
              <a:rPr lang="en-GB" dirty="0" err="1"/>
              <a:t>toate</a:t>
            </a:r>
            <a:r>
              <a:rPr lang="en-GB" dirty="0"/>
              <a:t> </a:t>
            </a:r>
            <a:r>
              <a:rPr lang="en-GB" dirty="0" err="1"/>
              <a:t>cele</a:t>
            </a:r>
            <a:r>
              <a:rPr lang="en-GB" dirty="0"/>
              <a:t> 6 </a:t>
            </a:r>
            <a:r>
              <a:rPr lang="en-GB" dirty="0" err="1"/>
              <a:t>corzi</a:t>
            </a:r>
            <a:r>
              <a:rPr lang="en-GB" dirty="0"/>
              <a:t>.</a:t>
            </a:r>
          </a:p>
          <a:p>
            <a:r>
              <a:rPr lang="en-GB" b="1" dirty="0" err="1"/>
              <a:t>Obiectiv</a:t>
            </a:r>
            <a:r>
              <a:rPr lang="en-GB" b="1" dirty="0"/>
              <a:t> </a:t>
            </a:r>
            <a:r>
              <a:rPr lang="en-GB" b="1" dirty="0" err="1"/>
              <a:t>atins</a:t>
            </a:r>
            <a:r>
              <a:rPr lang="en-GB" b="1" dirty="0"/>
              <a:t>:</a:t>
            </a:r>
            <a:r>
              <a:rPr lang="en-GB" dirty="0"/>
              <a:t> S-a </a:t>
            </a:r>
            <a:r>
              <a:rPr lang="en-GB" dirty="0" err="1"/>
              <a:t>încadrat</a:t>
            </a:r>
            <a:r>
              <a:rPr lang="en-GB" dirty="0"/>
              <a:t> perfect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banda</a:t>
            </a:r>
            <a:r>
              <a:rPr lang="en-GB" dirty="0"/>
              <a:t> </a:t>
            </a:r>
            <a:r>
              <a:rPr lang="en-GB" dirty="0" err="1"/>
              <a:t>muzicală</a:t>
            </a:r>
            <a:r>
              <a:rPr lang="en-GB" dirty="0"/>
              <a:t> de </a:t>
            </a:r>
            <a:r>
              <a:rPr lang="en-GB" dirty="0" err="1"/>
              <a:t>toleranță</a:t>
            </a:r>
            <a:r>
              <a:rPr lang="en-GB" dirty="0"/>
              <a:t> de </a:t>
            </a:r>
            <a:r>
              <a:rPr lang="en-GB" b="1" dirty="0"/>
              <a:t>±5 </a:t>
            </a:r>
            <a:r>
              <a:rPr lang="en-GB" b="1" dirty="0" err="1"/>
              <a:t>cenți</a:t>
            </a:r>
            <a:r>
              <a:rPr lang="en-GB" dirty="0"/>
              <a:t> (</a:t>
            </a:r>
            <a:r>
              <a:rPr lang="en-GB" dirty="0" err="1"/>
              <a:t>insesizabil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auzul</a:t>
            </a:r>
            <a:r>
              <a:rPr lang="en-GB" dirty="0"/>
              <a:t> </a:t>
            </a:r>
            <a:r>
              <a:rPr lang="en-GB" dirty="0" err="1"/>
              <a:t>uman</a:t>
            </a:r>
            <a:r>
              <a:rPr lang="en-GB" dirty="0"/>
              <a:t>).</a:t>
            </a:r>
          </a:p>
          <a:p>
            <a:r>
              <a:rPr lang="en-GB" b="1" dirty="0" err="1"/>
              <a:t>Performanța</a:t>
            </a:r>
            <a:r>
              <a:rPr lang="en-GB" b="1" dirty="0"/>
              <a:t> </a:t>
            </a:r>
            <a:r>
              <a:rPr lang="en-GB" b="1" dirty="0" err="1"/>
              <a:t>reală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Eroarea</a:t>
            </a:r>
            <a:r>
              <a:rPr lang="en-GB" dirty="0"/>
              <a:t> </a:t>
            </a:r>
            <a:r>
              <a:rPr lang="en-GB" dirty="0" err="1"/>
              <a:t>finală</a:t>
            </a:r>
            <a:r>
              <a:rPr lang="en-GB" dirty="0"/>
              <a:t> </a:t>
            </a:r>
            <a:r>
              <a:rPr lang="en-GB" dirty="0" err="1"/>
              <a:t>scade</a:t>
            </a:r>
            <a:r>
              <a:rPr lang="en-GB" dirty="0"/>
              <a:t> de </a:t>
            </a:r>
            <a:r>
              <a:rPr lang="en-GB" dirty="0" err="1"/>
              <a:t>obicei</a:t>
            </a:r>
            <a:r>
              <a:rPr lang="en-GB" dirty="0"/>
              <a:t> sub </a:t>
            </a:r>
            <a:r>
              <a:rPr lang="en-GB" b="1" dirty="0"/>
              <a:t>±1.5 </a:t>
            </a:r>
            <a:r>
              <a:rPr lang="en-GB" b="1" dirty="0" err="1"/>
              <a:t>cenți</a:t>
            </a:r>
            <a:r>
              <a:rPr lang="en-GB" dirty="0"/>
              <a:t>, </a:t>
            </a:r>
            <a:r>
              <a:rPr lang="en-GB" dirty="0" err="1"/>
              <a:t>iar</a:t>
            </a:r>
            <a:r>
              <a:rPr lang="en-GB" dirty="0"/>
              <a:t> </a:t>
            </a:r>
            <a:r>
              <a:rPr lang="en-GB" dirty="0" err="1"/>
              <a:t>zgomotul</a:t>
            </a:r>
            <a:r>
              <a:rPr lang="en-GB" dirty="0"/>
              <a:t> </a:t>
            </a:r>
            <a:r>
              <a:rPr lang="en-GB" dirty="0" err="1"/>
              <a:t>semnalului</a:t>
            </a:r>
            <a:r>
              <a:rPr lang="en-GB" dirty="0"/>
              <a:t> a </a:t>
            </a:r>
            <a:r>
              <a:rPr lang="en-GB" dirty="0" err="1"/>
              <a:t>fost</a:t>
            </a:r>
            <a:r>
              <a:rPr lang="en-GB" dirty="0"/>
              <a:t> </a:t>
            </a:r>
            <a:r>
              <a:rPr lang="en-GB" dirty="0" err="1"/>
              <a:t>curățat</a:t>
            </a:r>
            <a:r>
              <a:rPr lang="en-GB" dirty="0"/>
              <a:t> de 10 </a:t>
            </a:r>
            <a:r>
              <a:rPr lang="en-GB" dirty="0" err="1"/>
              <a:t>ori</a:t>
            </a:r>
            <a:r>
              <a:rPr lang="en-GB" dirty="0"/>
              <a:t> </a:t>
            </a:r>
            <a:r>
              <a:rPr lang="en-GB" dirty="0" err="1"/>
              <a:t>datorită</a:t>
            </a:r>
            <a:r>
              <a:rPr lang="en-GB" dirty="0"/>
              <a:t> </a:t>
            </a:r>
            <a:r>
              <a:rPr lang="en-GB" dirty="0" err="1"/>
              <a:t>filtrelor</a:t>
            </a:r>
            <a:r>
              <a:rPr lang="en-GB" dirty="0"/>
              <a:t> </a:t>
            </a:r>
            <a:r>
              <a:rPr lang="en-GB" dirty="0" err="1"/>
              <a:t>implementate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i="1" dirty="0"/>
              <a:t>(</a:t>
            </a:r>
            <a:r>
              <a:rPr lang="en-GB" i="1" dirty="0" err="1"/>
              <a:t>Pornește</a:t>
            </a:r>
            <a:r>
              <a:rPr lang="en-GB" i="1" dirty="0"/>
              <a:t> </a:t>
            </a:r>
            <a:r>
              <a:rPr lang="en-GB" i="1" dirty="0" err="1"/>
              <a:t>clipul</a:t>
            </a:r>
            <a:r>
              <a:rPr lang="en-GB" i="1" dirty="0"/>
              <a:t> video </a:t>
            </a:r>
            <a:r>
              <a:rPr lang="en-GB" i="1" dirty="0" err="1"/>
              <a:t>aici</a:t>
            </a:r>
            <a:r>
              <a:rPr lang="en-GB" i="1" dirty="0"/>
              <a:t>)</a:t>
            </a:r>
            <a:endParaRPr lang="en-GB" dirty="0"/>
          </a:p>
          <a:p>
            <a:r>
              <a:rPr lang="en-GB" b="1" dirty="0" err="1"/>
              <a:t>Autonom</a:t>
            </a:r>
            <a:r>
              <a:rPr lang="en-GB" b="1" dirty="0"/>
              <a:t>:</a:t>
            </a:r>
            <a:r>
              <a:rPr lang="en-GB" dirty="0"/>
              <a:t> Se </a:t>
            </a:r>
            <a:r>
              <a:rPr lang="en-GB" dirty="0" err="1"/>
              <a:t>observă</a:t>
            </a:r>
            <a:r>
              <a:rPr lang="en-GB" dirty="0"/>
              <a:t> </a:t>
            </a:r>
            <a:r>
              <a:rPr lang="en-GB" dirty="0" err="1"/>
              <a:t>clar</a:t>
            </a:r>
            <a:r>
              <a:rPr lang="en-GB" dirty="0"/>
              <a:t> </a:t>
            </a:r>
            <a:r>
              <a:rPr lang="en-GB" dirty="0" err="1"/>
              <a:t>că</a:t>
            </a:r>
            <a:r>
              <a:rPr lang="en-GB" dirty="0"/>
              <a:t> </a:t>
            </a:r>
            <a:r>
              <a:rPr lang="en-GB" dirty="0" err="1"/>
              <a:t>sistemul</a:t>
            </a:r>
            <a:r>
              <a:rPr lang="en-GB" dirty="0"/>
              <a:t> nu </a:t>
            </a:r>
            <a:r>
              <a:rPr lang="en-GB" dirty="0" err="1"/>
              <a:t>necesită</a:t>
            </a:r>
            <a:r>
              <a:rPr lang="en-GB" dirty="0"/>
              <a:t> </a:t>
            </a:r>
            <a:r>
              <a:rPr lang="en-GB" dirty="0" err="1"/>
              <a:t>intervenție</a:t>
            </a:r>
            <a:r>
              <a:rPr lang="en-GB" dirty="0"/>
              <a:t>, </a:t>
            </a:r>
            <a:r>
              <a:rPr lang="en-GB" dirty="0" err="1"/>
              <a:t>utilizatorul</a:t>
            </a:r>
            <a:r>
              <a:rPr lang="en-GB" dirty="0"/>
              <a:t> </a:t>
            </a:r>
            <a:r>
              <a:rPr lang="en-GB" dirty="0" err="1"/>
              <a:t>doar</a:t>
            </a:r>
            <a:r>
              <a:rPr lang="en-GB" dirty="0"/>
              <a:t> </a:t>
            </a:r>
            <a:r>
              <a:rPr lang="en-GB" dirty="0" err="1"/>
              <a:t>ciupește</a:t>
            </a:r>
            <a:r>
              <a:rPr lang="en-GB" dirty="0"/>
              <a:t> </a:t>
            </a:r>
            <a:r>
              <a:rPr lang="en-GB" dirty="0" err="1"/>
              <a:t>coarda</a:t>
            </a:r>
            <a:r>
              <a:rPr lang="en-GB" dirty="0"/>
              <a:t>.</a:t>
            </a:r>
          </a:p>
          <a:p>
            <a:r>
              <a:rPr lang="en-GB" b="1" dirty="0"/>
              <a:t>Rapid:</a:t>
            </a:r>
            <a:r>
              <a:rPr lang="en-GB" dirty="0"/>
              <a:t> </a:t>
            </a:r>
            <a:r>
              <a:rPr lang="en-GB" dirty="0" err="1"/>
              <a:t>Dispozitivul</a:t>
            </a:r>
            <a:r>
              <a:rPr lang="en-GB" dirty="0"/>
              <a:t> </a:t>
            </a:r>
            <a:r>
              <a:rPr lang="en-GB" dirty="0" err="1"/>
              <a:t>intră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toleranța</a:t>
            </a:r>
            <a:r>
              <a:rPr lang="en-GB" dirty="0"/>
              <a:t> </a:t>
            </a:r>
            <a:r>
              <a:rPr lang="en-GB" dirty="0" err="1"/>
              <a:t>verde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doar</a:t>
            </a:r>
            <a:r>
              <a:rPr lang="en-GB" dirty="0"/>
              <a:t> </a:t>
            </a:r>
            <a:r>
              <a:rPr lang="en-GB" dirty="0" err="1"/>
              <a:t>câteva</a:t>
            </a:r>
            <a:r>
              <a:rPr lang="en-GB" dirty="0"/>
              <a:t> </a:t>
            </a:r>
            <a:r>
              <a:rPr lang="en-GB" dirty="0" err="1"/>
              <a:t>secunde</a:t>
            </a:r>
            <a:r>
              <a:rPr lang="en-GB" dirty="0"/>
              <a:t>.</a:t>
            </a:r>
          </a:p>
          <a:p>
            <a:r>
              <a:rPr lang="en-GB" b="1" dirty="0"/>
              <a:t>Modern:</a:t>
            </a:r>
            <a:r>
              <a:rPr lang="en-GB" dirty="0"/>
              <a:t> </a:t>
            </a:r>
            <a:r>
              <a:rPr lang="en-GB" dirty="0" err="1"/>
              <a:t>Întreaga</a:t>
            </a:r>
            <a:r>
              <a:rPr lang="en-GB" dirty="0"/>
              <a:t> </a:t>
            </a:r>
            <a:r>
              <a:rPr lang="en-GB" dirty="0" err="1"/>
              <a:t>comandă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selectarea</a:t>
            </a:r>
            <a:r>
              <a:rPr lang="en-GB" dirty="0"/>
              <a:t> </a:t>
            </a:r>
            <a:r>
              <a:rPr lang="en-GB" dirty="0" err="1"/>
              <a:t>corzii</a:t>
            </a:r>
            <a:r>
              <a:rPr lang="en-GB" dirty="0"/>
              <a:t> se </a:t>
            </a:r>
            <a:r>
              <a:rPr lang="en-GB" dirty="0" err="1"/>
              <a:t>fac</a:t>
            </a:r>
            <a:r>
              <a:rPr lang="en-GB" dirty="0"/>
              <a:t> </a:t>
            </a:r>
            <a:r>
              <a:rPr lang="en-GB" dirty="0" err="1"/>
              <a:t>extrem</a:t>
            </a:r>
            <a:r>
              <a:rPr lang="en-GB" dirty="0"/>
              <a:t> de </a:t>
            </a:r>
            <a:r>
              <a:rPr lang="en-GB" dirty="0" err="1"/>
              <a:t>ușor</a:t>
            </a:r>
            <a:r>
              <a:rPr lang="en-GB" dirty="0"/>
              <a:t>, de pe </a:t>
            </a:r>
            <a:r>
              <a:rPr lang="en-GB" dirty="0" err="1"/>
              <a:t>telefon</a:t>
            </a:r>
            <a:r>
              <a:rPr lang="en-GB" dirty="0"/>
              <a:t> </a:t>
            </a:r>
            <a:r>
              <a:rPr lang="en-GB" dirty="0" err="1"/>
              <a:t>sau</a:t>
            </a:r>
            <a:r>
              <a:rPr lang="en-GB" dirty="0"/>
              <a:t> laptop, direct </a:t>
            </a:r>
            <a:r>
              <a:rPr lang="en-GB" dirty="0" err="1"/>
              <a:t>dintr</a:t>
            </a:r>
            <a:r>
              <a:rPr lang="en-GB" dirty="0"/>
              <a:t>-o </a:t>
            </a:r>
            <a:r>
              <a:rPr lang="en-GB" dirty="0" err="1"/>
              <a:t>interfață</a:t>
            </a:r>
            <a:r>
              <a:rPr lang="en-GB" dirty="0"/>
              <a:t> Web </a:t>
            </a:r>
            <a:r>
              <a:rPr lang="en-GB" dirty="0" err="1"/>
              <a:t>ținută</a:t>
            </a:r>
            <a:r>
              <a:rPr lang="en-GB" dirty="0"/>
              <a:t> pe ESP32.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err="1"/>
              <a:t>Succesul</a:t>
            </a:r>
            <a:r>
              <a:rPr lang="en-GB" b="1" dirty="0"/>
              <a:t> </a:t>
            </a:r>
            <a:r>
              <a:rPr lang="en-GB" b="1" dirty="0" err="1"/>
              <a:t>proiectului</a:t>
            </a:r>
            <a:r>
              <a:rPr lang="en-GB" b="1" dirty="0"/>
              <a:t>:</a:t>
            </a:r>
            <a:r>
              <a:rPr lang="en-GB" dirty="0"/>
              <a:t> Am </a:t>
            </a:r>
            <a:r>
              <a:rPr lang="en-GB" dirty="0" err="1"/>
              <a:t>demonstrat</a:t>
            </a:r>
            <a:r>
              <a:rPr lang="en-GB" dirty="0"/>
              <a:t> </a:t>
            </a:r>
            <a:r>
              <a:rPr lang="en-GB" dirty="0" err="1"/>
              <a:t>că</a:t>
            </a:r>
            <a:r>
              <a:rPr lang="en-GB" dirty="0"/>
              <a:t> </a:t>
            </a:r>
            <a:r>
              <a:rPr lang="en-GB" dirty="0" err="1"/>
              <a:t>putem</a:t>
            </a:r>
            <a:r>
              <a:rPr lang="en-GB" dirty="0"/>
              <a:t> </a:t>
            </a:r>
            <a:r>
              <a:rPr lang="en-GB" dirty="0" err="1"/>
              <a:t>crea</a:t>
            </a:r>
            <a:r>
              <a:rPr lang="en-GB" dirty="0"/>
              <a:t> un </a:t>
            </a:r>
            <a:r>
              <a:rPr lang="en-GB" dirty="0" err="1"/>
              <a:t>acordor</a:t>
            </a:r>
            <a:r>
              <a:rPr lang="en-GB" dirty="0"/>
              <a:t> automat robust, rapid </a:t>
            </a:r>
            <a:r>
              <a:rPr lang="en-GB" dirty="0" err="1"/>
              <a:t>și</a:t>
            </a:r>
            <a:r>
              <a:rPr lang="en-GB" dirty="0"/>
              <a:t> precis, </a:t>
            </a:r>
            <a:r>
              <a:rPr lang="en-GB" dirty="0" err="1"/>
              <a:t>folosind</a:t>
            </a:r>
            <a:r>
              <a:rPr lang="en-GB" dirty="0"/>
              <a:t> </a:t>
            </a:r>
            <a:r>
              <a:rPr lang="en-GB" dirty="0" err="1"/>
              <a:t>exclusiv</a:t>
            </a:r>
            <a:r>
              <a:rPr lang="en-GB" dirty="0"/>
              <a:t> </a:t>
            </a:r>
            <a:r>
              <a:rPr lang="en-GB" dirty="0" err="1"/>
              <a:t>componente</a:t>
            </a:r>
            <a:r>
              <a:rPr lang="en-GB" dirty="0"/>
              <a:t> </a:t>
            </a:r>
            <a:r>
              <a:rPr lang="en-GB" dirty="0" err="1"/>
              <a:t>accesibile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filtre</a:t>
            </a:r>
            <a:r>
              <a:rPr lang="en-GB" dirty="0"/>
              <a:t> </a:t>
            </a:r>
            <a:r>
              <a:rPr lang="en-GB" dirty="0" err="1"/>
              <a:t>matematice</a:t>
            </a:r>
            <a:r>
              <a:rPr lang="en-GB" dirty="0"/>
              <a:t> </a:t>
            </a:r>
            <a:r>
              <a:rPr lang="en-GB" dirty="0" err="1"/>
              <a:t>eficiente</a:t>
            </a:r>
            <a:r>
              <a:rPr lang="en-GB" dirty="0"/>
              <a:t>.</a:t>
            </a:r>
          </a:p>
          <a:p>
            <a:r>
              <a:rPr lang="en-GB" b="1" dirty="0" err="1"/>
              <a:t>Direcții</a:t>
            </a:r>
            <a:r>
              <a:rPr lang="en-GB" b="1" dirty="0"/>
              <a:t> </a:t>
            </a:r>
            <a:r>
              <a:rPr lang="en-GB" b="1" dirty="0" err="1"/>
              <a:t>viitoare</a:t>
            </a:r>
            <a:r>
              <a:rPr lang="en-GB" b="1" dirty="0"/>
              <a:t> (1):</a:t>
            </a:r>
            <a:r>
              <a:rPr lang="en-GB" dirty="0"/>
              <a:t> </a:t>
            </a:r>
            <a:r>
              <a:rPr lang="en-GB" dirty="0" err="1"/>
              <a:t>Portabilitatea</a:t>
            </a:r>
            <a:r>
              <a:rPr lang="en-GB" dirty="0"/>
              <a:t> – </a:t>
            </a:r>
            <a:r>
              <a:rPr lang="en-GB" dirty="0" err="1"/>
              <a:t>vreau</a:t>
            </a:r>
            <a:r>
              <a:rPr lang="en-GB" dirty="0"/>
              <a:t> o </a:t>
            </a:r>
            <a:r>
              <a:rPr lang="en-GB" dirty="0" err="1"/>
              <a:t>carcasă</a:t>
            </a:r>
            <a:r>
              <a:rPr lang="en-GB" dirty="0"/>
              <a:t> </a:t>
            </a:r>
            <a:r>
              <a:rPr lang="en-GB" dirty="0" err="1"/>
              <a:t>foarte</a:t>
            </a:r>
            <a:r>
              <a:rPr lang="en-GB" dirty="0"/>
              <a:t> </a:t>
            </a:r>
            <a:r>
              <a:rPr lang="en-GB" dirty="0" err="1"/>
              <a:t>compactă</a:t>
            </a:r>
            <a:r>
              <a:rPr lang="en-GB" dirty="0"/>
              <a:t>, cu </a:t>
            </a:r>
            <a:r>
              <a:rPr lang="en-GB" dirty="0" err="1"/>
              <a:t>funcționare</a:t>
            </a:r>
            <a:r>
              <a:rPr lang="en-GB" dirty="0"/>
              <a:t> </a:t>
            </a:r>
            <a:r>
              <a:rPr lang="en-GB" dirty="0" err="1"/>
              <a:t>independentă</a:t>
            </a:r>
            <a:r>
              <a:rPr lang="en-GB" dirty="0"/>
              <a:t> pe </a:t>
            </a:r>
            <a:r>
              <a:rPr lang="en-GB" dirty="0" err="1"/>
              <a:t>baterii</a:t>
            </a:r>
            <a:r>
              <a:rPr lang="en-GB" dirty="0"/>
              <a:t>.</a:t>
            </a:r>
          </a:p>
          <a:p>
            <a:r>
              <a:rPr lang="en-GB" b="1" dirty="0" err="1"/>
              <a:t>Direcții</a:t>
            </a:r>
            <a:r>
              <a:rPr lang="en-GB" b="1" dirty="0"/>
              <a:t> </a:t>
            </a:r>
            <a:r>
              <a:rPr lang="en-GB" b="1" dirty="0" err="1"/>
              <a:t>viitoare</a:t>
            </a:r>
            <a:r>
              <a:rPr lang="en-GB" b="1" dirty="0"/>
              <a:t> (2):</a:t>
            </a:r>
            <a:r>
              <a:rPr lang="en-GB" dirty="0"/>
              <a:t> </a:t>
            </a:r>
            <a:r>
              <a:rPr lang="en-GB" dirty="0" err="1"/>
              <a:t>Creșterea</a:t>
            </a:r>
            <a:r>
              <a:rPr lang="en-GB" dirty="0"/>
              <a:t> </a:t>
            </a:r>
            <a:r>
              <a:rPr lang="en-GB" dirty="0" err="1"/>
              <a:t>rezistenței</a:t>
            </a:r>
            <a:r>
              <a:rPr lang="en-GB" dirty="0"/>
              <a:t> la </a:t>
            </a:r>
            <a:r>
              <a:rPr lang="en-GB" dirty="0" err="1"/>
              <a:t>zgomot</a:t>
            </a:r>
            <a:r>
              <a:rPr lang="en-GB" dirty="0"/>
              <a:t> extern </a:t>
            </a:r>
            <a:r>
              <a:rPr lang="en-GB" dirty="0" err="1"/>
              <a:t>prin</a:t>
            </a:r>
            <a:r>
              <a:rPr lang="en-GB" dirty="0"/>
              <a:t> </a:t>
            </a:r>
            <a:r>
              <a:rPr lang="en-GB" dirty="0" err="1"/>
              <a:t>filtre</a:t>
            </a:r>
            <a:r>
              <a:rPr lang="en-GB" dirty="0"/>
              <a:t> hardware, </a:t>
            </a:r>
            <a:r>
              <a:rPr lang="en-GB" dirty="0" err="1"/>
              <a:t>adăugarea</a:t>
            </a:r>
            <a:r>
              <a:rPr lang="en-GB" dirty="0"/>
              <a:t> de </a:t>
            </a:r>
            <a:r>
              <a:rPr lang="en-GB" dirty="0" err="1"/>
              <a:t>butoane</a:t>
            </a:r>
            <a:r>
              <a:rPr lang="en-GB" dirty="0"/>
              <a:t> </a:t>
            </a:r>
            <a:r>
              <a:rPr lang="en-GB" dirty="0" err="1"/>
              <a:t>fizice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studierea</a:t>
            </a:r>
            <a:r>
              <a:rPr lang="en-GB" dirty="0"/>
              <a:t> </a:t>
            </a:r>
            <a:r>
              <a:rPr lang="en-GB" dirty="0" err="1"/>
              <a:t>comparativă</a:t>
            </a:r>
            <a:r>
              <a:rPr lang="en-GB" dirty="0"/>
              <a:t> </a:t>
            </a:r>
            <a:r>
              <a:rPr lang="en-GB" dirty="0" err="1"/>
              <a:t>avansată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Simulink.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Vă</a:t>
            </a:r>
            <a:r>
              <a:rPr lang="en-GB" dirty="0"/>
              <a:t> </a:t>
            </a:r>
            <a:r>
              <a:rPr lang="en-GB" dirty="0" err="1"/>
              <a:t>mulțumesc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atenția</a:t>
            </a:r>
            <a:r>
              <a:rPr lang="en-GB" dirty="0"/>
              <a:t> </a:t>
            </a:r>
            <a:r>
              <a:rPr lang="en-GB" dirty="0" err="1"/>
              <a:t>acordată</a:t>
            </a:r>
            <a:r>
              <a:rPr lang="en-GB" dirty="0"/>
              <a:t> pe </a:t>
            </a:r>
            <a:r>
              <a:rPr lang="en-GB" dirty="0" err="1"/>
              <a:t>parcursul</a:t>
            </a:r>
            <a:r>
              <a:rPr lang="en-GB" dirty="0"/>
              <a:t> </a:t>
            </a:r>
            <a:r>
              <a:rPr lang="en-GB" dirty="0" err="1"/>
              <a:t>prezentării</a:t>
            </a:r>
            <a:r>
              <a:rPr lang="en-GB" dirty="0"/>
              <a:t>.</a:t>
            </a:r>
          </a:p>
          <a:p>
            <a:r>
              <a:rPr lang="en-GB" dirty="0" err="1"/>
              <a:t>Aștept</a:t>
            </a:r>
            <a:r>
              <a:rPr lang="en-GB" dirty="0"/>
              <a:t> cu </a:t>
            </a:r>
            <a:r>
              <a:rPr lang="en-GB" dirty="0" err="1"/>
              <a:t>plăcere</a:t>
            </a:r>
            <a:r>
              <a:rPr lang="en-GB" dirty="0"/>
              <a:t> </a:t>
            </a:r>
            <a:r>
              <a:rPr lang="en-GB" dirty="0" err="1"/>
              <a:t>întrebările</a:t>
            </a:r>
            <a:r>
              <a:rPr lang="en-GB" dirty="0"/>
              <a:t> </a:t>
            </a:r>
            <a:r>
              <a:rPr lang="en-GB" dirty="0" err="1"/>
              <a:t>dumneavoastră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737360"/>
            <a:ext cx="5943600" cy="5943600"/>
          </a:xfrm>
          <a:prstGeom prst="ellipse">
            <a:avLst/>
          </a:prstGeom>
          <a:ln w="12700">
            <a:solidFill>
              <a:srgbClr val="2D6E9E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-2240280"/>
            <a:ext cx="6766560" cy="6766560"/>
          </a:xfrm>
          <a:prstGeom prst="ellipse">
            <a:avLst/>
          </a:prstGeom>
          <a:ln w="12700">
            <a:solidFill>
              <a:srgbClr val="E94560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2743200"/>
            <a:ext cx="7589520" cy="7589520"/>
          </a:xfrm>
          <a:prstGeom prst="ellipse">
            <a:avLst/>
          </a:prstGeom>
          <a:ln w="12700">
            <a:solidFill>
              <a:srgbClr val="2D6E9E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-3246120"/>
            <a:ext cx="8412480" cy="8412480"/>
          </a:xfrm>
          <a:prstGeom prst="ellipse">
            <a:avLst/>
          </a:prstGeom>
          <a:ln w="12700">
            <a:solidFill>
              <a:srgbClr val="E94560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98280" y="411480"/>
            <a:ext cx="269748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sessions/vibrant-dazzling-franklin/mnt/outputs/deck/figs/sig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5663" y="530352"/>
            <a:ext cx="2033570" cy="7498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 DE DIPLOMA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1783080"/>
            <a:ext cx="9875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mecatronic automat pentru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acordarea chitarei in bucla inchisa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22960" y="3611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Acustica  ·  FFT  ·  Filtre numerice  ·  Reglare in bucla inchisa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45262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Absolvent
</a:t>
            </a:r>
            <a:endParaRPr lang="en-US" sz="12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Fugulin Claudiu-Florian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35040" y="452628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Conducator stiintific
</a:t>
            </a:r>
            <a:endParaRPr lang="en-US" sz="12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Conf. dr. ing. Tiberiu Teodor Cocias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6035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Universitatea Transilvania din Brasov  ·  Facultatea de Inginerie Electrica si Stiinta Calculatoarelor  ·  Robotica  ·  Brasov,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OBIECTIV &amp; METODA DE LUCRU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am realizat si cum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Obiectiv general: proiectarea, implementarea si validarea experimentala a unui sistem mecatronic care acordeaza automat corzile chitarei, intr-o bucla de reglare inchisa.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420624" cy="420624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2185416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Fundamente teoretice   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Acustica corzii, analiza spectrala FFT, filtrare numerica, motoare pas cu pas.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008376"/>
            <a:ext cx="420624" cy="420624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2953512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Proiectare hardware   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Selectarea si interconectarea componentelor intr-un lant de masura si actionare.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776472"/>
            <a:ext cx="420624" cy="420624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76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5568" y="3721608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Dezvoltare software   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Detectia frecventei, lantul de filtre, legea de reglare si interfata de comanda.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544568"/>
            <a:ext cx="420624" cy="420624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544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5568" y="4489704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 experimentala   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 pe toate 6 corzile; precizia de acordaj evaluata in centi.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312664"/>
            <a:ext cx="420624" cy="420624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312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5568" y="525780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Portabilitate (tinta)   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Dispozitiv alimentat cu baterii, tinut intr-o singura mana - nu cutie separata legata prin fir.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772400" y="1371600"/>
            <a:ext cx="3886200" cy="4800600"/>
          </a:xfrm>
          <a:prstGeom prst="roundRect">
            <a:avLst>
              <a:gd name="adj" fmla="val 2118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0" y="16002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DE LUCRU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0" y="19202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in «V»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772400" y="23500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Proiectare functionala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92440" y="288036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Cerinte  →  acordare la nivel de centi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Arhitectura sistemului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Proiectarea subsistemelor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Implementarea modulelor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 unitara: FFT, filtre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Integrare subsisteme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Validare: toate corzile acordate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 FIZIC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Legea lui Mersenne — de ce functioneaza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/sessions/vibrant-dazzling-franklin/mnt/outputs/deck/figs/mersen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936" y="1783080"/>
            <a:ext cx="2923809" cy="1325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154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Frecventa fundamentala a corzii intinse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38862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456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3886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frecventa fundamentala [Hz]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44348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456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234440" y="4434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lungimea portiunii vibrante [m]  — constanta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9834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456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234440" y="4983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tensiunea mecanica din coarda [N]  — variabila de comanda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55321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456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μ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234440" y="5532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pe unitatea de lungime [kg/m]  — constanta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0" y="1554480"/>
            <a:ext cx="5257800" cy="4617720"/>
          </a:xfrm>
          <a:prstGeom prst="roundRect">
            <a:avLst>
              <a:gd name="adj" fmla="val 1782"/>
            </a:avLst>
          </a:prstGeom>
          <a:solidFill>
            <a:srgbClr val="EEF3F8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2084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Ideea de baza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720840" y="228600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si μ raman fixe in timpul acordarii, deci frecventa depinde doar de tensiunea T.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acorda o coarda = a regla tensiunea T pana cand f atinge nota tinta.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f este proportional cu radical din T, sensibilitatea este neliniara — un argument cheie pentru o lege de reglare adaptata, nu liniara.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720840" y="4892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Frecvente tinta (acordaj standard):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720840" y="52120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82.41  ·  A2 110.00  ·  D3 146.83  ·  G3 196.00  ·  B3 246.94  ·  E4 329.63  Hz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DETECTIA FRECVENTEI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FFT cu interpolare parabolica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49961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Esantionare
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puncte @ 8000 Hz, offset DC 2007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384048" cy="384048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34086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Ferestruire
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fereastra Hamming (reduce scurgerea spectrala)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36976"/>
            <a:ext cx="384048" cy="384048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18211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
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spectrul de magnitudine al semnalului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78224"/>
            <a:ext cx="384048" cy="384048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023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Varf spectral
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cauta maximul dominant, indicele 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19472"/>
            <a:ext cx="384048" cy="38404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8646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Interpolare parabolica
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rafineaza frecventa intre esantioane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1554480"/>
            <a:ext cx="5394960" cy="2240280"/>
          </a:xfrm>
          <a:prstGeom prst="roundRect">
            <a:avLst>
              <a:gd name="adj" fmla="val 3673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1737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Interpolare parabolica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3796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 = ( M[k+1] − M[k−1] ) ⁄ ( 2 ( 2M[k] − M[k−1] − M[k+1] ) 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37960" y="2743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456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 = ( k + δ ) · ( fₛ ⁄ N 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37960" y="3246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magnitudine spectrala · k = indicele varfului · fₛ = 8000 Hz · N = 512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3977640"/>
            <a:ext cx="5394960" cy="2194560"/>
          </a:xfrm>
          <a:prstGeom prst="roundRect">
            <a:avLst>
              <a:gd name="adj" fmla="val 3750"/>
            </a:avLst>
          </a:prstGeom>
          <a:solidFill>
            <a:srgbClr val="EEF3F8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3796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ce interpolare?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537960" y="4572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Rezolutia bruta a FFT este fₛ / N ≈ 15.6 Hz pe bin — prea grosiera pentru acordaj. Interpolarea parabolica foloseste cele trei esantioane din jurul varfului pentru a estima pozitia reala a frecventei cu rezolutie sub-bin, esentiala la precizia de ordinul centilor.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FILTRAREA ESTIMARII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Filtrul 1 — Median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424160" y="420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face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5440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o fereastra glisanta de N=5 valori sorteaza valorile si pastreaza valoarea din mijloc. Asa elimina varfurile aberante (outlieri) fara sa deformeze semnalul.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2004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493008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y[n] = mediana( x[n-4], … , x[n] 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449884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Fereastra: N = 5 esantioane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5029200"/>
            <a:ext cx="5440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ce: 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la varfurile izolate din FFT (erori de detectie); o medie obisnuita ar fi trasa de outlieri, mediana nu.</a:t>
            </a:r>
            <a:endParaRPr lang="en-US" sz="1300" dirty="0"/>
          </a:p>
        </p:txBody>
      </p:sp>
      <p:pic>
        <p:nvPicPr>
          <p:cNvPr id="12" name="Image 0" descr="/sessions/vibrant-dazzling-franklin/mnt/outputs/deck/figs/f_medi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7860"/>
            <a:ext cx="5486400" cy="3048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217920" y="5321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Varfurile aberante sunt eliminate, semnalul ramane neted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FILTRAREA ESTIMARII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Filtrul 2 — IIR (recursiv exponential)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424160" y="420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face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5440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Filtru recursiv de ordinul I. Pondereaza valoarea curenta cu istoria estimarii — o netezire exponentiala, cu cost de calcul minim.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2004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Ecuatie de recurenta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493008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y[n] = α · x[n] + (1 − α) · y[n−1]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449884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Coeficient: α = 0.7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5029200"/>
            <a:ext cx="5440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ce: 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raspuns neted, cu intarziere mica; α regleaza echilibrul dintre viteza de raspuns si gradul de netezire.</a:t>
            </a:r>
            <a:endParaRPr lang="en-US" sz="1300" dirty="0"/>
          </a:p>
        </p:txBody>
      </p:sp>
      <p:pic>
        <p:nvPicPr>
          <p:cNvPr id="12" name="Image 0" descr="/sessions/vibrant-dazzling-franklin/mnt/outputs/deck/figs/f_i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7860"/>
            <a:ext cx="5486400" cy="3048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217920" y="5321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Zgomotul de amplitudine mica este atenuat, semnalul devine lin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FILTRAREA ESTIMARII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Filtrul 3 — Kalman unidimensional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424160" y="420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face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5440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 optimal: combina o predictie cu masurarea, ponderate prin castigul K, in functie de incredere. Se adapteaza la nivelul de zgomot.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2004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Predictie  →  corectie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493008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 = P + Q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 = P ⁄ (P + R)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= x + K (z − x) ;   P = (1 − K) 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49884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0.1 (proces) · R = 1.0 (masura) · reset la salt &gt; 25 Hz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5029200"/>
            <a:ext cx="5440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ce: 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 mai stabila estimare; reactioneaza rapid la schimbari reale, dar respinge zgomotul. Reset-ul rapid permite trecerea la o coarda noua.</a:t>
            </a:r>
            <a:endParaRPr lang="en-US" sz="1300" dirty="0"/>
          </a:p>
        </p:txBody>
      </p:sp>
      <p:pic>
        <p:nvPicPr>
          <p:cNvPr id="12" name="Image 0" descr="/sessions/vibrant-dazzling-franklin/mnt/outputs/deck/figs/f_kalm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7860"/>
            <a:ext cx="5486400" cy="3048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217920" y="5321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Estimare stabila care urmareste fidel frecventa reala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REGLAREA IN BUCLA INCHISA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eroare in centi la pasi de motor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FB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Frecventa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tinta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95728" y="20574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621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9572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12848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182880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5875">
            <a:solidFill>
              <a:srgbClr val="1621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828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(pasi ∝ eroare)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9320" y="182880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9FB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828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+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pas cu pas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78240" y="182880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5875">
            <a:solidFill>
              <a:srgbClr val="9FB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23960" y="1828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Coarda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(proces)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0" y="2286000"/>
            <a:ext cx="384048" cy="0"/>
          </a:xfrm>
          <a:prstGeom prst="line">
            <a:avLst/>
          </a:prstGeom>
          <a:noFill/>
          <a:ln w="28575">
            <a:solidFill>
              <a:srgbClr val="16213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852928" y="2286000"/>
            <a:ext cx="347472" cy="0"/>
          </a:xfrm>
          <a:prstGeom prst="line">
            <a:avLst/>
          </a:prstGeom>
          <a:noFill/>
          <a:ln w="28575">
            <a:solidFill>
              <a:srgbClr val="16213E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331720" y="15179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eroare (centi)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03520" y="2286000"/>
            <a:ext cx="685800" cy="0"/>
          </a:xfrm>
          <a:prstGeom prst="line">
            <a:avLst/>
          </a:prstGeom>
          <a:noFill/>
          <a:ln w="28575">
            <a:solidFill>
              <a:srgbClr val="16213E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029200" y="15179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nr. pasi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92440" y="2286000"/>
            <a:ext cx="685800" cy="0"/>
          </a:xfrm>
          <a:prstGeom prst="line">
            <a:avLst/>
          </a:prstGeom>
          <a:noFill/>
          <a:ln w="28575">
            <a:solidFill>
              <a:srgbClr val="16213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515600" y="2286000"/>
            <a:ext cx="82296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69880" y="15179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2D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frecventa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98164" y="3346704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FBE7EB"/>
          </a:solidFill>
          <a:ln w="15875">
            <a:solidFill>
              <a:srgbClr val="E94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32461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Microfon + FFT + lant de filtre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1338560" y="2286000"/>
            <a:ext cx="0" cy="1303020"/>
          </a:xfrm>
          <a:prstGeom prst="line">
            <a:avLst/>
          </a:prstGeom>
          <a:noFill/>
          <a:ln w="28575">
            <a:solidFill>
              <a:srgbClr val="E945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0" y="3589020"/>
            <a:ext cx="3566160" cy="0"/>
          </a:xfrm>
          <a:prstGeom prst="line">
            <a:avLst/>
          </a:prstGeom>
          <a:noFill/>
          <a:ln w="28575">
            <a:solidFill>
              <a:srgbClr val="E945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24328" y="3589020"/>
            <a:ext cx="941832" cy="0"/>
          </a:xfrm>
          <a:prstGeom prst="line">
            <a:avLst/>
          </a:prstGeom>
          <a:noFill/>
          <a:ln w="28575">
            <a:solidFill>
              <a:srgbClr val="E945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24328" y="2514600"/>
            <a:ext cx="0" cy="1074420"/>
          </a:xfrm>
          <a:prstGeom prst="line">
            <a:avLst/>
          </a:prstGeom>
          <a:noFill/>
          <a:ln w="28575">
            <a:solidFill>
              <a:srgbClr val="E94560"/>
            </a:solidFill>
            <a:prstDash val="solid"/>
            <a:headEnd type="triangle"/>
          </a:ln>
        </p:spPr>
      </p:sp>
      <p:sp>
        <p:nvSpPr>
          <p:cNvPr id="29" name="Text 27"/>
          <p:cNvSpPr/>
          <p:nvPr/>
        </p:nvSpPr>
        <p:spPr>
          <a:xfrm>
            <a:off x="5669280" y="2953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frecventa masurata (reactie)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297680"/>
            <a:ext cx="6720840" cy="960120"/>
          </a:xfrm>
          <a:prstGeom prst="roundRect">
            <a:avLst>
              <a:gd name="adj" fmla="val 8571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5800" y="443484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Eroare = </a:t>
            </a:r>
            <a:r>
              <a:rPr lang="en-US" sz="1700" b="1" dirty="0">
                <a:solidFill>
                  <a:srgbClr val="E9456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1200 · log₂ ( f</a:t>
            </a:r>
            <a:r>
              <a:rPr lang="en-US" sz="1000" b="1" dirty="0">
                <a:solidFill>
                  <a:srgbClr val="E9456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masurat</a:t>
            </a:r>
            <a:r>
              <a:rPr lang="en-US" sz="1700" b="1" dirty="0">
                <a:solidFill>
                  <a:srgbClr val="E9456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⁄ f</a:t>
            </a:r>
            <a:r>
              <a:rPr lang="en-US" sz="1000" b="1" dirty="0">
                <a:solidFill>
                  <a:srgbClr val="E9456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tinta</a:t>
            </a:r>
            <a:r>
              <a:rPr lang="en-US" sz="1700" b="1" dirty="0">
                <a:solidFill>
                  <a:srgbClr val="E9456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)   [centi]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85800" y="48463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Abaterea de acordaj, independenta de nota. Zona acordata: ±5 centi · oprire de siguranta la 300 centi.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5394960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 proportionala pe trepte — numar de pasi adaptat la marimea erorii (convergenta rapida, fara oscilatii):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06440"/>
          <a:ext cx="6720840" cy="640080"/>
        </p:xfrm>
        <a:graphic>
          <a:graphicData uri="http://schemas.openxmlformats.org/drawingml/2006/table">
            <a:tbl>
              <a:tblPr/>
              <a:tblGrid>
                <a:gridCol w="1680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0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0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0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|eroare| &gt; 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 centi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pasi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pasi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pasi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7452360" y="4297680"/>
            <a:ext cx="4251960" cy="2148840"/>
          </a:xfrm>
          <a:prstGeom prst="roundRect">
            <a:avLst>
              <a:gd name="adj" fmla="val 3830"/>
            </a:avLst>
          </a:prstGeom>
          <a:solidFill>
            <a:srgbClr val="EEF3F8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7726680" y="44622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ce aceasta lege?</a:t>
            </a:r>
            <a:endParaRPr lang="en-US" sz="1700" dirty="0"/>
          </a:p>
        </p:txBody>
      </p:sp>
      <p:sp>
        <p:nvSpPr>
          <p:cNvPr id="37" name="Text 34"/>
          <p:cNvSpPr/>
          <p:nvPr/>
        </p:nvSpPr>
        <p:spPr>
          <a:xfrm>
            <a:off x="7726680" y="48463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Procesul e discret (pasi) si neliniar (f ∝ √T). Un regulator proportional pe trepte, adaptat procesului, e mai stabil decat un PID generic.
</a:t>
            </a:r>
            <a:endParaRPr lang="en-US" sz="1250" dirty="0"/>
          </a:p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Calibrare experimentala:  ≈ 50 pasi → 1 cent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REZULTATE EXPERIMENTALE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Convergenta si precizia de acordaj</a:t>
            </a:r>
            <a:endParaRPr lang="en-US" sz="3000" dirty="0"/>
          </a:p>
        </p:txBody>
      </p:sp>
      <p:pic>
        <p:nvPicPr>
          <p:cNvPr id="4" name="Image 0" descr="/sessions/vibrant-dazzling-franklin/mnt/outputs/deck/figs/fig4_2_raw_kalm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20" y="1463040"/>
            <a:ext cx="5446761" cy="2880360"/>
          </a:xfrm>
          <a:prstGeom prst="rect">
            <a:avLst/>
          </a:prstGeom>
        </p:spPr>
      </p:pic>
      <p:pic>
        <p:nvPicPr>
          <p:cNvPr id="5" name="Image 1" descr="/sessions/vibrant-dazzling-franklin/mnt/outputs/deck/figs/fig4_3_eroare_cent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466504"/>
            <a:ext cx="5669280" cy="287343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Coarda A2: frecventa bruta vs. filtrata Kalman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035040" y="42976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Coarda A2: eroarea intra si ramane in banda ±5 centi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57200" y="4800600"/>
            <a:ext cx="2743200" cy="1600200"/>
          </a:xfrm>
          <a:prstGeom prst="roundRect">
            <a:avLst>
              <a:gd name="adj" fmla="val 5143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57200" y="4937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±5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45720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centi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" y="5806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de toleranta atinsa pe toate corzile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310128" y="4800600"/>
            <a:ext cx="2743200" cy="1600200"/>
          </a:xfrm>
          <a:prstGeom prst="roundRect">
            <a:avLst>
              <a:gd name="adj" fmla="val 5143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310128" y="4937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±1.5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3310128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centi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93008" y="5806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eroare reziduala tipica dupa acordare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63056" y="4800600"/>
            <a:ext cx="2743200" cy="1600200"/>
          </a:xfrm>
          <a:prstGeom prst="roundRect">
            <a:avLst>
              <a:gd name="adj" fmla="val 5143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163056" y="4937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ordin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6163056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marime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345936" y="5806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reducerea zgomotului prin lantul de filtre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9015984" y="4800600"/>
            <a:ext cx="2743200" cy="1600200"/>
          </a:xfrm>
          <a:prstGeom prst="roundRect">
            <a:avLst>
              <a:gd name="adj" fmla="val 5143"/>
            </a:avLst>
          </a:prstGeom>
          <a:solidFill>
            <a:srgbClr val="16213E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9015984" y="4937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3000" dirty="0"/>
          </a:p>
        </p:txBody>
      </p:sp>
      <p:sp>
        <p:nvSpPr>
          <p:cNvPr id="22" name="Text 18"/>
          <p:cNvSpPr/>
          <p:nvPr/>
        </p:nvSpPr>
        <p:spPr>
          <a:xfrm>
            <a:off x="9015984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corzi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9198864" y="5806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acordate cu succes in testare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7202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60079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Functionarea sistemului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078224" y="37033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73252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demonstreaza clipul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32520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052560" y="2752344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
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sistemul acordeaza singur, fara interventie manuala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732520" y="36301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052560" y="359359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
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coarda intra in toleranta in cateva secunde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732520" y="447141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052560" y="44348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
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eroarea ajunge si ramane sub ±5 centi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732520" y="53126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052560" y="527608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Comanda simpla
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totul pornit dintr-o interfata web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pic>
        <p:nvPicPr>
          <p:cNvPr id="20" name="202606291707">
            <a:hlinkClick r:id="" action="ppaction://media"/>
            <a:extLst>
              <a:ext uri="{FF2B5EF4-FFF2-40B4-BE49-F238E27FC236}">
                <a16:creationId xmlns:a16="http://schemas.microsoft.com/office/drawing/2014/main" id="{E19DFB7B-782D-4A3F-A768-A64DFEEA37A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r="30501"/>
          <a:stretch/>
        </p:blipFill>
        <p:spPr>
          <a:xfrm>
            <a:off x="800946" y="1240874"/>
            <a:ext cx="6666654" cy="50874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431"/>
    </mc:Choice>
    <mc:Fallback xmlns="">
      <p:transition spd="slow" advTm="1124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654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Obiective indeplinite si directii viitoare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D8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am demonstrat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5212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Bucla de masura si actionare completa, de la microfon la cheia de acordaj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Detectie de frecventa FFT cu interpolare pe microcontroler cu resurse limitate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Lant de filtre median-IIR-Kalman pentru estimare stabila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 de reglare proportionala pe trepte, convergenta fara oscilatii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Validare pe toate corzile: ±5 centi, rezidual sub ±1.5 centi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Directii viitoare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2286000"/>
            <a:ext cx="5303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Dispozitiv portabil: alimentare pe baterii si forma compacta, tinuta intr-o singura mana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Robustete la zgomot: filtru trece-banda si detectie rezistenta la armonice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Butoane fizice si LED-uri pe corpul dispozitivului; acordaje alternative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multe motoare pentru acordarea simultana a corzilor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Modelare Simulink a buclei si comparatie cu un regulator PID complet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612880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ln w="12700">
            <a:solidFill>
              <a:srgbClr val="2D6E9E">
                <a:alpha val="2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297680"/>
            <a:ext cx="6309360" cy="6309360"/>
          </a:xfrm>
          <a:prstGeom prst="ellipse">
            <a:avLst/>
          </a:prstGeom>
          <a:ln w="12700">
            <a:solidFill>
              <a:srgbClr val="E94560">
                <a:alpha val="2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754880"/>
            <a:ext cx="7132320" cy="7132320"/>
          </a:xfrm>
          <a:prstGeom prst="ellipse">
            <a:avLst/>
          </a:prstGeom>
          <a:ln w="12700">
            <a:solidFill>
              <a:srgbClr val="2D6E9E">
                <a:alpha val="2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98280" y="457200"/>
            <a:ext cx="269748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sessions/vibrant-dazzling-franklin/mnt/outputs/deck/figs/sig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5663" y="576072"/>
            <a:ext cx="2033570" cy="7498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33172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 multumesc</a:t>
            </a:r>
            <a:endParaRPr lang="en-US" sz="48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pentru atentie!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6868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Astept cu placere intrebarile dumneavoastra.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52120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Fugulin Claudiu-Florian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Conducator stiintific: Conf. dr. ing. Tiberiu Teodor Cocias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2115</Words>
  <Application>Microsoft Office PowerPoint</Application>
  <PresentationFormat>Widescreen</PresentationFormat>
  <Paragraphs>244</Paragraphs>
  <Slides>12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mecatronic automat pentru acordarea chitarei in bucla inchisa</dc:title>
  <dc:subject>PptxGenJS Presentation</dc:subject>
  <dc:creator>Fugulin Claudiu-Florian</dc:creator>
  <cp:lastModifiedBy>Mufica</cp:lastModifiedBy>
  <cp:revision>10</cp:revision>
  <dcterms:created xsi:type="dcterms:W3CDTF">2026-06-29T13:21:25Z</dcterms:created>
  <dcterms:modified xsi:type="dcterms:W3CDTF">2026-06-30T06:46:01Z</dcterms:modified>
</cp:coreProperties>
</file>